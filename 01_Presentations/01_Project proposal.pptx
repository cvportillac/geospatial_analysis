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2"/>
  </p:notesMasterIdLst>
  <p:sldIdLst>
    <p:sldId id="264" r:id="rId2"/>
    <p:sldId id="266" r:id="rId3"/>
    <p:sldId id="269" r:id="rId4"/>
    <p:sldId id="270" r:id="rId5"/>
    <p:sldId id="271" r:id="rId6"/>
    <p:sldId id="274" r:id="rId7"/>
    <p:sldId id="272" r:id="rId8"/>
    <p:sldId id="273" r:id="rId9"/>
    <p:sldId id="268" r:id="rId10"/>
    <p:sldId id="260" r:id="rId11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6CC"/>
    <a:srgbClr val="E03A00"/>
    <a:srgbClr val="172B7E"/>
    <a:srgbClr val="2BA287"/>
    <a:srgbClr val="19A78C"/>
    <a:srgbClr val="19937C"/>
    <a:srgbClr val="43AB97"/>
    <a:srgbClr val="CC008C"/>
    <a:srgbClr val="00A480"/>
    <a:srgbClr val="00A4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8"/>
    <p:restoredTop sz="96120" autoAdjust="0"/>
  </p:normalViewPr>
  <p:slideViewPr>
    <p:cSldViewPr snapToGrid="0" snapToObjects="1">
      <p:cViewPr>
        <p:scale>
          <a:sx n="100" d="100"/>
          <a:sy n="100" d="100"/>
        </p:scale>
        <p:origin x="3896" y="184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06D32-3F26-4A60-B79B-32791D3BB2C9}" type="datetimeFigureOut">
              <a:rPr lang="es-CO" smtClean="0"/>
              <a:t>9/10/26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695FE-B573-405B-994F-FAFC23062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91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695FE-B573-405B-994F-FAFC23062642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623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BA481-4B10-CD0D-2346-70A7F720D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79C5CB-EA76-645B-CEA4-2727B32D3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5D23761-D8EC-899F-A6DE-AA46302C3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D2A086-626F-9D6D-F2F3-D1CB72BEB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F695FE-B573-405B-994F-FAFC2306264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2915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C7EF-31CC-61DA-06BD-1DD613DA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262BC8-1747-1276-996F-76D7CB7CE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07F40A-0374-038C-2C5B-BBF28581E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6F5354-85B8-4B3D-8040-2455E10BA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F695FE-B573-405B-994F-FAFC2306264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388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5301D-28B5-8D29-CE1F-CA460768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7859BD-C87D-E255-D17E-CB1A70D97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FEB77A7-BAB0-13DF-3195-B88E8BC90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AAFFAD-9A25-5810-05BA-55991E5F9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F695FE-B573-405B-994F-FAFC2306264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606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2E548-6668-D87F-EBD5-E5BB2272F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EEFF53E-7DC5-223D-7F0C-51F4BBD11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8BAA3F-30A5-FBCA-C918-8EBA736B1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18F02E-13A5-5AE0-18C8-1BC40D93B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F695FE-B573-405B-994F-FAFC2306264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434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F361-1B6D-C92C-B648-14D9B18C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791FFA8-E04D-C67C-D2B3-2FCCDCE37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4BACB8-D68F-AA9D-068F-00FF3FC2D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7A8241-2E71-07AE-DC43-474F6D0CD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F695FE-B573-405B-994F-FAFC2306264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2755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CDF5-2071-425C-739B-2CBE961A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456BD3-EF57-B3A2-68D3-50818825A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D65F348-D0C3-7D23-C2AA-ACA2F786B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82E867-E1F0-5361-4329-0E0AB6EFD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F695FE-B573-405B-994F-FAFC2306264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655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0329C-E1BD-1B59-2AAB-D56B1EE1B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ADEE551-D783-C833-B0B5-CAB9BD5DE5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CE1B41A-8FE1-0B78-B1C3-4DB7E5572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FF0443-D7B7-A6BC-55E6-AF327D1C6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F695FE-B573-405B-994F-FAFC23062642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632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C620-E659-49B0-9EFB-BB66AA813A77}" type="datetime1">
              <a:rPr lang="es-ES" smtClean="0"/>
              <a:t>9/10/26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17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68595"/>
            <a:ext cx="8229600" cy="69463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77E6E-80CA-4637-84D1-CB00AA43C9A5}" type="datetime1">
              <a:rPr lang="es-ES" smtClean="0"/>
              <a:t>9/10/26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01256" y="18054"/>
            <a:ext cx="2133600" cy="273844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s-ES" dirty="0"/>
              <a:t>Página </a:t>
            </a:r>
            <a:fld id="{90BC2BA4-81C0-F544-BD72-C8CB9DA7C802}" type="slidenum">
              <a:rPr lang="es-ES" smtClean="0"/>
              <a:pPr/>
              <a:t>‹Nº›</a:t>
            </a:fld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055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2299790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1174649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04BB-03C1-49D0-8ADB-9D0B173DA53B}" type="datetime1">
              <a:rPr lang="es-ES" smtClean="0"/>
              <a:t>9/10/26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98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8A97A-0D3F-47CA-A347-054B7FE5852E}" type="datetime1">
              <a:rPr lang="es-ES" smtClean="0"/>
              <a:t>9/10/26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1D78991F-287D-0639-B3A9-25B72B76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303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C8795-6BD1-4429-BD75-9B388C62CDEE}" type="datetime1">
              <a:rPr lang="es-ES" smtClean="0"/>
              <a:t>9/10/26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B2016B63-56CA-91C8-8D94-3736CC5D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454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A773-67CF-4861-89BB-2127413ABA21}" type="datetime1">
              <a:rPr lang="es-ES" smtClean="0"/>
              <a:t>9/10/26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ED5BEC-1B11-157D-6B6B-7EC9DA38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8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ADB17-4F6B-498B-894E-4985DAFC70C1}" type="datetime1">
              <a:rPr lang="es-ES" smtClean="0"/>
              <a:t>9/10/26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29E16D5E-FC12-627C-C32C-2D79CE9D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41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5D58-D3C6-4A98-BBED-E11D62DD4FB7}" type="datetime1">
              <a:rPr lang="es-ES" smtClean="0"/>
              <a:t>9/10/26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27E0BABE-B629-4063-8894-C3E90357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97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8C981-BD54-46FE-919F-B5B29C8804F4}" type="datetime1">
              <a:rPr lang="es-ES" smtClean="0"/>
              <a:t>9/10/26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8F88F565-A7F0-7C19-A7F7-953C9727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998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311887"/>
            <a:ext cx="8229600" cy="751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30C37-EE32-4163-B0FE-3AD7FB21F6FB}" type="datetime1">
              <a:rPr lang="es-ES" smtClean="0"/>
              <a:t>9/10/26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61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29/2021GL097002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doi.org/10.1016/j.hal.2019.03.00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46/annurev-marine-032122-121437" TargetMode="External"/><Relationship Id="rId5" Type="http://schemas.openxmlformats.org/officeDocument/2006/relationships/hyperlink" Target="https://doi.org/10.21105/joss.00821" TargetMode="External"/><Relationship Id="rId4" Type="http://schemas.openxmlformats.org/officeDocument/2006/relationships/hyperlink" Target="https://doi.org/10.1016/j.pocean.2015.12.014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767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301256" y="544496"/>
            <a:ext cx="4974129" cy="14024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500" b="1" dirty="0">
                <a:solidFill>
                  <a:schemeClr val="tx2"/>
                </a:solidFill>
                <a:latin typeface="Ancizar Sans"/>
                <a:ea typeface="+mn-ea"/>
              </a:rPr>
              <a:t>Bajo la superficie: variabilidad tetradimensional de Olas de Calor y Episodios de Frío Marino en las Zonas de Pesca del Pacífico Sudeste</a:t>
            </a:r>
          </a:p>
        </p:txBody>
      </p:sp>
      <p:cxnSp>
        <p:nvCxnSpPr>
          <p:cNvPr id="4" name="Conector recto 3"/>
          <p:cNvCxnSpPr>
            <a:cxnSpLocks/>
          </p:cNvCxnSpPr>
          <p:nvPr/>
        </p:nvCxnSpPr>
        <p:spPr>
          <a:xfrm>
            <a:off x="157574" y="2222365"/>
            <a:ext cx="8648098" cy="0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CuadroTexto 4"/>
          <p:cNvSpPr txBox="1"/>
          <p:nvPr/>
        </p:nvSpPr>
        <p:spPr>
          <a:xfrm>
            <a:off x="2479878" y="2405917"/>
            <a:ext cx="41842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tx2"/>
                </a:solidFill>
                <a:latin typeface="Ancizar Sans"/>
                <a:cs typeface="Ancizar Sans"/>
              </a:rPr>
              <a:t>Análisis Geoespacial – 3008338</a:t>
            </a:r>
          </a:p>
          <a:p>
            <a:pPr algn="ctr"/>
            <a:endParaRPr lang="es-ES" sz="1600" dirty="0">
              <a:solidFill>
                <a:schemeClr val="tx2"/>
              </a:solidFill>
              <a:latin typeface="Ancizar Sans"/>
              <a:cs typeface="Ancizar Sans"/>
            </a:endParaRPr>
          </a:p>
          <a:p>
            <a:pPr algn="ctr"/>
            <a:r>
              <a:rPr lang="es-ES" sz="1600" b="1" dirty="0">
                <a:solidFill>
                  <a:schemeClr val="tx2"/>
                </a:solidFill>
                <a:latin typeface="Ancizar Sans"/>
                <a:cs typeface="Ancizar Sans"/>
              </a:rPr>
              <a:t>PhD</a:t>
            </a:r>
            <a:r>
              <a:rPr lang="es-ES" sz="1600" dirty="0">
                <a:solidFill>
                  <a:schemeClr val="tx2"/>
                </a:solidFill>
                <a:latin typeface="Ancizar Sans"/>
                <a:cs typeface="Ancizar Sans"/>
              </a:rPr>
              <a:t>. Edier Aristizabal Giraldo [Docente]</a:t>
            </a:r>
          </a:p>
          <a:p>
            <a:pPr algn="ctr"/>
            <a:r>
              <a:rPr lang="es-ES" sz="1600" b="1" dirty="0" err="1">
                <a:solidFill>
                  <a:schemeClr val="tx2"/>
                </a:solidFill>
                <a:latin typeface="Ancizar Sans"/>
                <a:cs typeface="Ancizar Sans"/>
              </a:rPr>
              <a:t>MSc</a:t>
            </a:r>
            <a:r>
              <a:rPr lang="es-ES" sz="1600" dirty="0">
                <a:solidFill>
                  <a:schemeClr val="tx2"/>
                </a:solidFill>
                <a:latin typeface="Ancizar Sans"/>
                <a:cs typeface="Ancizar Sans"/>
              </a:rPr>
              <a:t>. Cristiam V. Portilla Cabrera [Estudiante]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462932" y="3600939"/>
            <a:ext cx="6218136" cy="75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600" dirty="0">
                <a:solidFill>
                  <a:schemeClr val="tx2"/>
                </a:solidFill>
                <a:latin typeface="Ancizar Sans"/>
                <a:ea typeface="+mn-ea"/>
              </a:rPr>
              <a:t>Doctorado en Ingeniería Sistemas e Informática</a:t>
            </a:r>
          </a:p>
          <a:p>
            <a:r>
              <a:rPr lang="es-ES" sz="1600" dirty="0">
                <a:solidFill>
                  <a:schemeClr val="tx2"/>
                </a:solidFill>
                <a:latin typeface="Ancizar Sans"/>
                <a:ea typeface="+mn-ea"/>
              </a:rPr>
              <a:t> </a:t>
            </a:r>
            <a:r>
              <a:rPr lang="es-ES" sz="1600" dirty="0">
                <a:solidFill>
                  <a:schemeClr val="tx2"/>
                </a:solidFill>
                <a:latin typeface="Ancizar Sans"/>
              </a:rPr>
              <a:t>Facultad de Minas - </a:t>
            </a:r>
            <a:r>
              <a:rPr lang="es-ES" sz="1600" dirty="0">
                <a:solidFill>
                  <a:schemeClr val="tx2"/>
                </a:solidFill>
                <a:latin typeface="Ancizar Sans"/>
                <a:ea typeface="+mn-ea"/>
              </a:rPr>
              <a:t>Sede Medellín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185DE8-C48F-FD75-EF42-14FD2D29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>
                <a:solidFill>
                  <a:schemeClr val="tx2"/>
                </a:solidFill>
              </a:rPr>
              <a:pPr/>
              <a:t>2</a:t>
            </a:fld>
            <a:endParaRPr lang="es-ES" dirty="0">
              <a:solidFill>
                <a:schemeClr val="tx2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6539BD4-FB63-F561-44EE-0A972BAC2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2501" y="331736"/>
            <a:ext cx="3373171" cy="18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229A0-47BF-72BC-F604-EDCFDA5A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8AF6258-17E3-9DCC-6F3E-C6AE416B34F3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ncizar Serif Extrabold" panose="020A0902070300000003" pitchFamily="18" charset="0"/>
                <a:ea typeface="+mj-ea"/>
                <a:cs typeface="Ancizar Sans Extrabold"/>
              </a:rPr>
              <a:t>Introducción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BC4D5E7D-8BB0-6DE4-43C8-BC454B78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9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AC2572-A18B-194D-CDC2-A34012A2A3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45" y="1225077"/>
            <a:ext cx="2900585" cy="10701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E1A5538-79B8-F88E-5788-EC14477ECF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3" y="2956555"/>
            <a:ext cx="2893986" cy="109178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48080E6-2A4B-EE37-47D0-0F51C89AA1D7}"/>
              </a:ext>
            </a:extLst>
          </p:cNvPr>
          <p:cNvSpPr txBox="1"/>
          <p:nvPr/>
        </p:nvSpPr>
        <p:spPr>
          <a:xfrm>
            <a:off x="92872" y="857083"/>
            <a:ext cx="3453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s-ES" sz="1200" b="1" dirty="0">
                <a:solidFill>
                  <a:schemeClr val="tx2"/>
                </a:solidFill>
              </a:rPr>
              <a:t>1A. Serie temporal (</a:t>
            </a:r>
            <a:r>
              <a:rPr lang="es-ES" sz="1200" b="1" dirty="0" err="1">
                <a:solidFill>
                  <a:schemeClr val="tx2"/>
                </a:solidFill>
              </a:rPr>
              <a:t>MHWs</a:t>
            </a:r>
            <a:r>
              <a:rPr lang="es-ES" sz="1200" b="1" dirty="0">
                <a:solidFill>
                  <a:schemeClr val="tx2"/>
                </a:solidFill>
              </a:rPr>
              <a:t>) </a:t>
            </a:r>
            <a:r>
              <a:rPr lang="en-US" sz="1000" baseline="30000" dirty="0">
                <a:solidFill>
                  <a:schemeClr val="tx2"/>
                </a:solidFill>
              </a:rPr>
              <a:t>[1] </a:t>
            </a:r>
            <a:endParaRPr lang="en-US" sz="1200" b="0" baseline="30000" dirty="0">
              <a:solidFill>
                <a:schemeClr val="tx2"/>
              </a:solidFill>
              <a:effectLst/>
            </a:endParaRPr>
          </a:p>
          <a:p>
            <a:endParaRPr lang="es-ES_tradnl" sz="1200" b="1" dirty="0">
              <a:solidFill>
                <a:schemeClr val="tx2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4A0859-4C77-D3D2-1025-37F28D079027}"/>
              </a:ext>
            </a:extLst>
          </p:cNvPr>
          <p:cNvSpPr txBox="1"/>
          <p:nvPr/>
        </p:nvSpPr>
        <p:spPr>
          <a:xfrm>
            <a:off x="92871" y="2647462"/>
            <a:ext cx="37433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chemeClr val="tx2"/>
                </a:solidFill>
              </a:rPr>
              <a:t>1B. Serie temporal (</a:t>
            </a:r>
            <a:r>
              <a:rPr lang="es-ES" sz="1200" b="1" dirty="0" err="1">
                <a:solidFill>
                  <a:schemeClr val="tx2"/>
                </a:solidFill>
              </a:rPr>
              <a:t>MCSs</a:t>
            </a:r>
            <a:r>
              <a:rPr lang="es-ES" sz="1200" b="1" dirty="0">
                <a:solidFill>
                  <a:schemeClr val="tx2"/>
                </a:solidFill>
              </a:rPr>
              <a:t>) </a:t>
            </a:r>
            <a:r>
              <a:rPr lang="en-US" sz="1000" baseline="30000" dirty="0">
                <a:solidFill>
                  <a:schemeClr val="tx2"/>
                </a:solidFill>
              </a:rPr>
              <a:t>[1][2] </a:t>
            </a:r>
            <a:endParaRPr lang="en-US" sz="1200" b="0" baseline="30000" dirty="0">
              <a:solidFill>
                <a:schemeClr val="tx2"/>
              </a:solidFill>
              <a:effectLst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4CCABD-C442-9D19-1DCE-F694B693E2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20" r="56399" b="9997"/>
          <a:stretch>
            <a:fillRect/>
          </a:stretch>
        </p:blipFill>
        <p:spPr>
          <a:xfrm>
            <a:off x="6661324" y="1278520"/>
            <a:ext cx="2261454" cy="43466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2EB9FCA-BB81-6C6A-2B62-7F475B7CE8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2" t="76627" b="8529"/>
          <a:stretch>
            <a:fillRect/>
          </a:stretch>
        </p:blipFill>
        <p:spPr>
          <a:xfrm>
            <a:off x="6528075" y="1934488"/>
            <a:ext cx="2578604" cy="43466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22341C4-60C6-E64C-C121-721315BAE4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35" t="32336" r="-1176" b="32358"/>
          <a:stretch>
            <a:fillRect/>
          </a:stretch>
        </p:blipFill>
        <p:spPr>
          <a:xfrm>
            <a:off x="3207663" y="2926649"/>
            <a:ext cx="3210778" cy="11724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13E29A7-3936-FD1B-7DA4-250607A26A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37" r="636" b="66472"/>
          <a:stretch>
            <a:fillRect/>
          </a:stretch>
        </p:blipFill>
        <p:spPr>
          <a:xfrm>
            <a:off x="3202369" y="1201480"/>
            <a:ext cx="3168739" cy="1139101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1F691AD-F719-8BBC-C7EB-654B8458BF32}"/>
              </a:ext>
            </a:extLst>
          </p:cNvPr>
          <p:cNvSpPr txBox="1"/>
          <p:nvPr/>
        </p:nvSpPr>
        <p:spPr>
          <a:xfrm>
            <a:off x="12719965" y="1850417"/>
            <a:ext cx="17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30000" dirty="0"/>
              <a:t>[3] </a:t>
            </a:r>
            <a:endParaRPr lang="es-ES_tradnl" sz="10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73CE44B-6EF7-8E15-DE08-05DC9EF86E26}"/>
              </a:ext>
            </a:extLst>
          </p:cNvPr>
          <p:cNvSpPr txBox="1"/>
          <p:nvPr/>
        </p:nvSpPr>
        <p:spPr>
          <a:xfrm>
            <a:off x="12719965" y="6698797"/>
            <a:ext cx="17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aseline="30000" dirty="0"/>
              <a:t>[3] </a:t>
            </a:r>
            <a:endParaRPr lang="es-ES_tradnl" sz="10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67C8E01-6A7D-BBED-8ED6-71716ECA861B}"/>
              </a:ext>
            </a:extLst>
          </p:cNvPr>
          <p:cNvSpPr txBox="1"/>
          <p:nvPr/>
        </p:nvSpPr>
        <p:spPr>
          <a:xfrm>
            <a:off x="259080" y="4720590"/>
            <a:ext cx="4200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 err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Facultad de Minas</a:t>
            </a:r>
            <a:endParaRPr kumimoji="0" lang="en-US" sz="900" b="0" i="1" u="none" strike="noStrike" kern="1200" cap="none" spc="0" normalizeH="0" baseline="0" noProof="0" dirty="0">
              <a:ln>
                <a:noFill/>
              </a:ln>
              <a:solidFill>
                <a:srgbClr val="F7F5F2"/>
              </a:solidFill>
              <a:effectLst/>
              <a:uLnTx/>
              <a:uFillTx/>
              <a:latin typeface="Ancizar Sans" panose="020B0602040300000003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 err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Doctorado Ing. Sistemas e Informática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F52920E-7C68-A3EA-FE0E-F7321DF73B21}"/>
              </a:ext>
            </a:extLst>
          </p:cNvPr>
          <p:cNvSpPr txBox="1"/>
          <p:nvPr/>
        </p:nvSpPr>
        <p:spPr>
          <a:xfrm>
            <a:off x="3323782" y="844391"/>
            <a:ext cx="2836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s-ES" sz="1200" b="1" dirty="0">
                <a:solidFill>
                  <a:schemeClr val="tx2"/>
                </a:solidFill>
              </a:rPr>
              <a:t>2A. Mapeo superficial (</a:t>
            </a:r>
            <a:r>
              <a:rPr lang="es-ES" sz="1200" b="1" dirty="0" err="1">
                <a:solidFill>
                  <a:schemeClr val="tx2"/>
                </a:solidFill>
              </a:rPr>
              <a:t>MHWs</a:t>
            </a:r>
            <a:r>
              <a:rPr lang="es-ES" sz="1200" b="1" dirty="0">
                <a:solidFill>
                  <a:schemeClr val="tx2"/>
                </a:solidFill>
              </a:rPr>
              <a:t>) </a:t>
            </a:r>
            <a:r>
              <a:rPr lang="en-US" sz="1000" baseline="30000" dirty="0">
                <a:solidFill>
                  <a:schemeClr val="tx2"/>
                </a:solidFill>
              </a:rPr>
              <a:t>[6] </a:t>
            </a:r>
            <a:endParaRPr lang="en-US" sz="1000" b="0" baseline="30000" dirty="0">
              <a:solidFill>
                <a:schemeClr val="tx2"/>
              </a:solidFill>
              <a:effectLst/>
            </a:endParaRPr>
          </a:p>
          <a:p>
            <a:endParaRPr lang="es-ES_tradnl" sz="1200" b="1" dirty="0">
              <a:solidFill>
                <a:schemeClr val="tx2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E29D74E-D975-8D5C-52DE-4B87F727D36F}"/>
              </a:ext>
            </a:extLst>
          </p:cNvPr>
          <p:cNvSpPr txBox="1"/>
          <p:nvPr/>
        </p:nvSpPr>
        <p:spPr>
          <a:xfrm>
            <a:off x="3323782" y="2663509"/>
            <a:ext cx="29770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s-ES" sz="1200" b="1" dirty="0">
                <a:solidFill>
                  <a:schemeClr val="tx2"/>
                </a:solidFill>
              </a:rPr>
              <a:t>2B. Mapeo superficial (</a:t>
            </a:r>
            <a:r>
              <a:rPr lang="es-ES" sz="1200" b="1" dirty="0" err="1">
                <a:solidFill>
                  <a:schemeClr val="tx2"/>
                </a:solidFill>
              </a:rPr>
              <a:t>MCSs</a:t>
            </a:r>
            <a:r>
              <a:rPr lang="es-ES" sz="1200" b="1" dirty="0">
                <a:solidFill>
                  <a:schemeClr val="tx2"/>
                </a:solidFill>
              </a:rPr>
              <a:t>) </a:t>
            </a:r>
            <a:r>
              <a:rPr lang="en-US" sz="1000" baseline="30000" dirty="0">
                <a:solidFill>
                  <a:schemeClr val="tx2"/>
                </a:solidFill>
              </a:rPr>
              <a:t>[6] </a:t>
            </a:r>
            <a:endParaRPr lang="en-US" sz="1000" b="0" baseline="30000" dirty="0">
              <a:solidFill>
                <a:schemeClr val="tx2"/>
              </a:solidFill>
              <a:effectLst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C18462D-C57D-6DC0-12D1-0A09ABCBD779}"/>
              </a:ext>
            </a:extLst>
          </p:cNvPr>
          <p:cNvSpPr txBox="1"/>
          <p:nvPr/>
        </p:nvSpPr>
        <p:spPr>
          <a:xfrm>
            <a:off x="6807767" y="864648"/>
            <a:ext cx="28369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s-ES" sz="1200" b="1" dirty="0">
                <a:solidFill>
                  <a:schemeClr val="tx2"/>
                </a:solidFill>
              </a:rPr>
              <a:t>3A. Impactos naturales </a:t>
            </a:r>
            <a:r>
              <a:rPr lang="en-US" sz="1000" baseline="30000" dirty="0">
                <a:solidFill>
                  <a:schemeClr val="tx2"/>
                </a:solidFill>
              </a:rPr>
              <a:t>[3] </a:t>
            </a:r>
            <a:endParaRPr lang="en-US" sz="1000" b="0" baseline="30000" dirty="0">
              <a:solidFill>
                <a:schemeClr val="tx2"/>
              </a:solidFill>
              <a:effectLst/>
            </a:endParaRPr>
          </a:p>
          <a:p>
            <a:endParaRPr lang="es-ES_tradnl" sz="1200" b="1" dirty="0">
              <a:solidFill>
                <a:schemeClr val="tx2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F4CEDB3-4597-FBD2-5F97-6A2891CA76E3}"/>
              </a:ext>
            </a:extLst>
          </p:cNvPr>
          <p:cNvSpPr txBox="1"/>
          <p:nvPr/>
        </p:nvSpPr>
        <p:spPr>
          <a:xfrm>
            <a:off x="7563436" y="3595583"/>
            <a:ext cx="16792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solidFill>
                  <a:srgbClr val="FF0000"/>
                </a:solidFill>
              </a:rPr>
              <a:t>- </a:t>
            </a:r>
            <a:r>
              <a:rPr lang="es-CO" sz="1400" b="1" dirty="0">
                <a:solidFill>
                  <a:srgbClr val="FF0000"/>
                </a:solidFill>
              </a:rPr>
              <a:t>US$800 </a:t>
            </a:r>
            <a:r>
              <a:rPr lang="es-CO" sz="1200" b="1" dirty="0">
                <a:solidFill>
                  <a:schemeClr val="tx2"/>
                </a:solidFill>
              </a:rPr>
              <a:t>millones para la industria acuícola</a:t>
            </a:r>
            <a:endParaRPr lang="es-ES_tradnl" sz="1200" b="1" dirty="0">
              <a:solidFill>
                <a:schemeClr val="tx2"/>
              </a:solidFill>
            </a:endParaRPr>
          </a:p>
        </p:txBody>
      </p:sp>
      <p:pic>
        <p:nvPicPr>
          <p:cNvPr id="31" name="Imagen 30" descr="Go to journal home page - Harmful Algae">
            <a:extLst>
              <a:ext uri="{FF2B5EF4-FFF2-40B4-BE49-F238E27FC236}">
                <a16:creationId xmlns:a16="http://schemas.microsoft.com/office/drawing/2014/main" id="{4FAF370B-D556-D531-9D5D-507401D07C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0936" y="3057116"/>
            <a:ext cx="952500" cy="1270000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6BF811C-59FD-A47D-1A08-250AD920C8E5}"/>
              </a:ext>
            </a:extLst>
          </p:cNvPr>
          <p:cNvSpPr txBox="1"/>
          <p:nvPr/>
        </p:nvSpPr>
        <p:spPr>
          <a:xfrm>
            <a:off x="6807767" y="2647462"/>
            <a:ext cx="20076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s-ES" sz="1200" b="1" dirty="0">
                <a:solidFill>
                  <a:schemeClr val="tx2"/>
                </a:solidFill>
              </a:rPr>
              <a:t>3B. Impactos económicos </a:t>
            </a:r>
            <a:r>
              <a:rPr lang="en-US" sz="1000" baseline="30000" dirty="0">
                <a:solidFill>
                  <a:schemeClr val="tx2"/>
                </a:solidFill>
              </a:rPr>
              <a:t>[5]</a:t>
            </a:r>
            <a:endParaRPr lang="es-ES_tradnl" sz="1000" b="1" dirty="0">
              <a:solidFill>
                <a:schemeClr val="tx2"/>
              </a:solidFill>
            </a:endParaRPr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4FD2424F-6590-F1EB-A9A7-BB64534927D6}"/>
              </a:ext>
            </a:extLst>
          </p:cNvPr>
          <p:cNvCxnSpPr>
            <a:cxnSpLocks/>
          </p:cNvCxnSpPr>
          <p:nvPr/>
        </p:nvCxnSpPr>
        <p:spPr>
          <a:xfrm>
            <a:off x="3219279" y="921544"/>
            <a:ext cx="0" cy="3471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F3222197-FC7B-FB42-B453-83F9E69C4221}"/>
              </a:ext>
            </a:extLst>
          </p:cNvPr>
          <p:cNvCxnSpPr>
            <a:cxnSpLocks/>
          </p:cNvCxnSpPr>
          <p:nvPr/>
        </p:nvCxnSpPr>
        <p:spPr>
          <a:xfrm>
            <a:off x="6407264" y="928688"/>
            <a:ext cx="0" cy="34695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0781126-790B-D962-1065-65B96A35BDA1}"/>
              </a:ext>
            </a:extLst>
          </p:cNvPr>
          <p:cNvSpPr txBox="1"/>
          <p:nvPr/>
        </p:nvSpPr>
        <p:spPr>
          <a:xfrm>
            <a:off x="7573857" y="2977332"/>
            <a:ext cx="1475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s-ES_tradnl" sz="1200" b="1" dirty="0">
                <a:solidFill>
                  <a:schemeClr val="tx2"/>
                </a:solidFill>
              </a:rPr>
              <a:t>En Chile, 2016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6DB2ED0-6494-3F81-C581-C26CB4483EB4}"/>
              </a:ext>
            </a:extLst>
          </p:cNvPr>
          <p:cNvSpPr txBox="1"/>
          <p:nvPr/>
        </p:nvSpPr>
        <p:spPr>
          <a:xfrm>
            <a:off x="7573857" y="3202766"/>
            <a:ext cx="20076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 err="1">
                <a:solidFill>
                  <a:schemeClr val="tx2"/>
                </a:solidFill>
              </a:rPr>
              <a:t>MHWs</a:t>
            </a:r>
            <a:endParaRPr lang="es-ES_tradnl" sz="1200" b="1" dirty="0">
              <a:solidFill>
                <a:schemeClr val="tx2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464A3EB-DFCE-29A3-8F21-E419EAAE2BBC}"/>
              </a:ext>
            </a:extLst>
          </p:cNvPr>
          <p:cNvSpPr txBox="1"/>
          <p:nvPr/>
        </p:nvSpPr>
        <p:spPr>
          <a:xfrm>
            <a:off x="7573857" y="3437604"/>
            <a:ext cx="20076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>
                <a:solidFill>
                  <a:schemeClr val="tx2"/>
                </a:solidFill>
              </a:rPr>
              <a:t>Algas nocivas</a:t>
            </a:r>
            <a:endParaRPr lang="es-ES_tradnl" sz="1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673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5A850-1D59-AFB6-46D6-7944ACED7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5DF230D-D8EF-4B5F-540F-D3D1D23FBEBD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ncizar Serif Extrabold" panose="020A0902070300000003" pitchFamily="18" charset="0"/>
                <a:ea typeface="+mj-ea"/>
                <a:cs typeface="Ancizar Sans Extrabold"/>
              </a:rPr>
              <a:t>Objetivo principal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95466D2-5FD6-B6E4-14B4-6F374FE9CD71}"/>
              </a:ext>
            </a:extLst>
          </p:cNvPr>
          <p:cNvSpPr txBox="1"/>
          <p:nvPr/>
        </p:nvSpPr>
        <p:spPr>
          <a:xfrm>
            <a:off x="259080" y="4720590"/>
            <a:ext cx="4200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50" b="0" i="1" u="none" strike="noStrike" kern="1200" cap="none" spc="0" normalizeH="0" baseline="0" noProof="0" dirty="0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Facultad de Minas</a:t>
            </a:r>
            <a:endParaRPr kumimoji="0" lang="es-ES_tradnl" sz="900" b="0" i="1" u="none" strike="noStrike" kern="1200" cap="none" spc="0" normalizeH="0" baseline="0" noProof="0" dirty="0">
              <a:ln>
                <a:noFill/>
              </a:ln>
              <a:solidFill>
                <a:srgbClr val="F7F5F2"/>
              </a:solidFill>
              <a:effectLst/>
              <a:uLnTx/>
              <a:uFillTx/>
              <a:latin typeface="Ancizar Sans" panose="020B0602040300000003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50" b="0" i="1" u="none" strike="noStrike" kern="1200" cap="none" spc="0" normalizeH="0" baseline="0" noProof="0" dirty="0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Doctorado Ing. Sistemas e Informática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B46A2D-C662-454B-8A54-B6E964B20CBB}"/>
              </a:ext>
            </a:extLst>
          </p:cNvPr>
          <p:cNvSpPr txBox="1"/>
          <p:nvPr/>
        </p:nvSpPr>
        <p:spPr>
          <a:xfrm>
            <a:off x="423480" y="2235783"/>
            <a:ext cx="37616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lvl="0" indent="0">
              <a:buNone/>
            </a:pPr>
            <a:r>
              <a:rPr lang="es-CO" sz="1600" dirty="0">
                <a:solidFill>
                  <a:schemeClr val="tx2"/>
                </a:solidFill>
              </a:rPr>
              <a:t>1. Caracterizar las MHW y MCS por cada nivel de profundidad y zona de pesca.</a:t>
            </a:r>
          </a:p>
          <a:p>
            <a:pPr marL="0" lvl="0" indent="0">
              <a:buNone/>
            </a:pPr>
            <a:endParaRPr lang="es-CO" sz="1600" dirty="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600" dirty="0">
                <a:solidFill>
                  <a:schemeClr val="tx2"/>
                </a:solidFill>
              </a:rPr>
              <a:t>2. Evaluar las tendencias y la variabilidad interanual de las propiedades de estos eventos y su relación con ENSO.</a:t>
            </a:r>
          </a:p>
          <a:p>
            <a:pPr marL="0" lvl="0" indent="0">
              <a:buNone/>
            </a:pPr>
            <a:endParaRPr lang="es-CO" sz="1600" dirty="0">
              <a:solidFill>
                <a:schemeClr val="tx2"/>
              </a:solidFill>
            </a:endParaRPr>
          </a:p>
          <a:p>
            <a:pPr marL="0" lvl="0" indent="0">
              <a:buNone/>
            </a:pPr>
            <a:r>
              <a:rPr lang="es-CO" sz="1600" dirty="0">
                <a:solidFill>
                  <a:schemeClr val="tx2"/>
                </a:solidFill>
              </a:rPr>
              <a:t>3. Determinar la coherencia vertical de estos eventos extremos.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BC0521C5-4316-2009-B93F-52DB772E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_tradnl" sz="900" b="0" i="0" u="none" strike="noStrike" kern="1200" cap="none" spc="0" normalizeH="0" baseline="0" noProof="0" smtClean="0">
                <a:ln>
                  <a:noFill/>
                </a:ln>
                <a:solidFill>
                  <a:srgbClr val="29272D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_tradnl" sz="900" b="0" i="0" u="none" strike="noStrike" kern="1200" cap="none" spc="0" normalizeH="0" baseline="0" noProof="0" dirty="0">
              <a:ln>
                <a:noFill/>
              </a:ln>
              <a:solidFill>
                <a:srgbClr val="29272D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7109D9-4773-58F3-C86E-069F784619D1}"/>
              </a:ext>
            </a:extLst>
          </p:cNvPr>
          <p:cNvSpPr txBox="1"/>
          <p:nvPr/>
        </p:nvSpPr>
        <p:spPr>
          <a:xfrm>
            <a:off x="463673" y="824623"/>
            <a:ext cx="8416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buClr>
                <a:srgbClr val="9F00C4"/>
              </a:buClr>
              <a:buNone/>
            </a:pPr>
            <a:r>
              <a:rPr lang="es-CO" sz="1600" dirty="0">
                <a:solidFill>
                  <a:schemeClr val="tx2"/>
                </a:solidFill>
              </a:rPr>
              <a:t>Analizar la variabilidad tetradimensional de las Olas de Calor Marino (</a:t>
            </a:r>
            <a:r>
              <a:rPr lang="es-CO" sz="1600" dirty="0" err="1">
                <a:solidFill>
                  <a:schemeClr val="tx2"/>
                </a:solidFill>
              </a:rPr>
              <a:t>MHWs</a:t>
            </a:r>
            <a:r>
              <a:rPr lang="es-CO" sz="1600" dirty="0">
                <a:solidFill>
                  <a:schemeClr val="tx2"/>
                </a:solidFill>
              </a:rPr>
              <a:t>) y los Episodios de frío Marino (</a:t>
            </a:r>
            <a:r>
              <a:rPr lang="es-CO" sz="1600" dirty="0" err="1">
                <a:solidFill>
                  <a:schemeClr val="tx2"/>
                </a:solidFill>
              </a:rPr>
              <a:t>MCSs</a:t>
            </a:r>
            <a:r>
              <a:rPr lang="es-CO" sz="1600" dirty="0">
                <a:solidFill>
                  <a:schemeClr val="tx2"/>
                </a:solidFill>
              </a:rPr>
              <a:t>) en las Zonas de Pesca del Pacífico Sudeste, entre los 0 y 1000 m de profundidad durante 1993 y 2022.</a:t>
            </a:r>
            <a:endParaRPr kumimoji="0" lang="es-ES_tradnl" sz="160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18CA1E4-8652-D078-981D-25B5BE6FC946}"/>
              </a:ext>
            </a:extLst>
          </p:cNvPr>
          <p:cNvSpPr txBox="1">
            <a:spLocks/>
          </p:cNvSpPr>
          <p:nvPr/>
        </p:nvSpPr>
        <p:spPr>
          <a:xfrm>
            <a:off x="477376" y="1703058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ncizar Serif Extrabold" panose="020A0902070300000003" pitchFamily="18" charset="0"/>
                <a:ea typeface="+mj-ea"/>
                <a:cs typeface="Ancizar Sans Extrabold"/>
              </a:rPr>
              <a:t>Objetivos específicos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7A285AA-C55A-3803-19A1-9C1152174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034" y="2270985"/>
            <a:ext cx="4645219" cy="204789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12A9918-35F6-447B-C010-0A916B379C63}"/>
              </a:ext>
            </a:extLst>
          </p:cNvPr>
          <p:cNvSpPr txBox="1"/>
          <p:nvPr/>
        </p:nvSpPr>
        <p:spPr>
          <a:xfrm>
            <a:off x="8566674" y="3835066"/>
            <a:ext cx="3130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aseline="30000" dirty="0">
                <a:solidFill>
                  <a:schemeClr val="tx2"/>
                </a:solidFill>
              </a:rPr>
              <a:t>[4] </a:t>
            </a:r>
            <a:endParaRPr lang="es-ES_tradn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6346000-E511-1E2E-8A3B-CCC1A9728026}"/>
              </a:ext>
            </a:extLst>
          </p:cNvPr>
          <p:cNvSpPr txBox="1"/>
          <p:nvPr/>
        </p:nvSpPr>
        <p:spPr>
          <a:xfrm>
            <a:off x="8491493" y="4201445"/>
            <a:ext cx="3130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aseline="30000" dirty="0">
                <a:solidFill>
                  <a:schemeClr val="tx2"/>
                </a:solidFill>
              </a:rPr>
              <a:t>[4] 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26023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887E6-B3E4-0B90-3CBE-A25CDE78A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8C5ADD7-B369-6C6B-1275-387D927CF148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defRPr/>
            </a:pPr>
            <a:r>
              <a:rPr lang="es-ES_tradnl" sz="2200" b="1" noProof="1">
                <a:solidFill>
                  <a:srgbClr val="481F63"/>
                </a:solidFill>
                <a:latin typeface="Ancizar Serif Extrabold" panose="020A0902070300000003" pitchFamily="18" charset="0"/>
                <a:cs typeface="Ancizar Sans Extrabold"/>
              </a:rPr>
              <a:t>Datos y formatos geoespaciales</a:t>
            </a:r>
            <a:endParaRPr kumimoji="0" lang="es-ES_tradnl" sz="2200" b="1" i="0" u="none" strike="noStrike" kern="1200" cap="none" spc="0" normalizeH="0" baseline="0" noProof="1">
              <a:ln>
                <a:noFill/>
              </a:ln>
              <a:solidFill>
                <a:srgbClr val="481F63"/>
              </a:solidFill>
              <a:effectLst/>
              <a:uLnTx/>
              <a:uFillTx/>
              <a:latin typeface="Ancizar Serif Extrabold" panose="020A0902070300000003" pitchFamily="18" charset="0"/>
              <a:ea typeface="+mj-ea"/>
              <a:cs typeface="Ancizar Sans Extrabold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4382D33-DD22-552B-8FA7-6EFE9744E0DE}"/>
              </a:ext>
            </a:extLst>
          </p:cNvPr>
          <p:cNvSpPr txBox="1"/>
          <p:nvPr/>
        </p:nvSpPr>
        <p:spPr>
          <a:xfrm>
            <a:off x="259080" y="4720590"/>
            <a:ext cx="4200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50" b="0" i="1" u="none" strike="noStrike" kern="1200" cap="none" spc="0" normalizeH="0" baseline="0" noProof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Facultad de Minas</a:t>
            </a:r>
            <a:endParaRPr kumimoji="0" lang="es-ES_tradnl" sz="900" b="0" i="1" u="none" strike="noStrike" kern="1200" cap="none" spc="0" normalizeH="0" baseline="0" noProof="1">
              <a:ln>
                <a:noFill/>
              </a:ln>
              <a:solidFill>
                <a:srgbClr val="F7F5F2"/>
              </a:solidFill>
              <a:effectLst/>
              <a:uLnTx/>
              <a:uFillTx/>
              <a:latin typeface="Ancizar Sans" panose="020B0602040300000003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50" b="0" i="1" u="none" strike="noStrike" kern="1200" cap="none" spc="0" normalizeH="0" baseline="0" noProof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Doctorado Ing. Sistemas e Informática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995218C2-1132-5172-7FDF-963464FD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_tradnl" sz="900" b="0" i="0" u="none" strike="noStrike" kern="1200" cap="none" spc="0" normalizeH="0" baseline="0" noProof="1" smtClean="0">
                <a:ln>
                  <a:noFill/>
                </a:ln>
                <a:solidFill>
                  <a:srgbClr val="29272D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_tradnl" sz="900" b="0" i="0" u="none" strike="noStrike" kern="1200" cap="none" spc="0" normalizeH="0" baseline="0" noProof="1">
              <a:ln>
                <a:noFill/>
              </a:ln>
              <a:solidFill>
                <a:srgbClr val="29272D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pic>
        <p:nvPicPr>
          <p:cNvPr id="5" name="Imagen 4" descr="QGIS">
            <a:extLst>
              <a:ext uri="{FF2B5EF4-FFF2-40B4-BE49-F238E27FC236}">
                <a16:creationId xmlns:a16="http://schemas.microsoft.com/office/drawing/2014/main" id="{59036446-1670-AC07-ACA7-C1B4D14D8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32" y="857951"/>
            <a:ext cx="1064080" cy="520217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514DE86-16B3-7A59-3230-028BE82C4985}"/>
              </a:ext>
            </a:extLst>
          </p:cNvPr>
          <p:cNvCxnSpPr>
            <a:cxnSpLocks/>
          </p:cNvCxnSpPr>
          <p:nvPr/>
        </p:nvCxnSpPr>
        <p:spPr>
          <a:xfrm>
            <a:off x="4572000" y="921544"/>
            <a:ext cx="0" cy="34718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F795DA-4929-636F-3E0F-016D74C8D5B1}"/>
              </a:ext>
            </a:extLst>
          </p:cNvPr>
          <p:cNvSpPr txBox="1"/>
          <p:nvPr/>
        </p:nvSpPr>
        <p:spPr>
          <a:xfrm>
            <a:off x="1901673" y="777915"/>
            <a:ext cx="14336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600" b="1" i="0" u="none" strike="noStrike" kern="1200" cap="none" spc="0" normalizeH="0" baseline="0" noProof="1">
                <a:ln>
                  <a:noFill/>
                </a:ln>
                <a:solidFill>
                  <a:srgbClr val="481F63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1. Ráster [.nc]</a:t>
            </a:r>
            <a:endParaRPr kumimoji="0" lang="es-ES_tradnl" sz="1600" b="0" i="0" u="none" strike="noStrike" kern="1200" cap="none" spc="0" normalizeH="0" baseline="0" noProof="1">
              <a:ln>
                <a:noFill/>
              </a:ln>
              <a:solidFill>
                <a:srgbClr val="481F63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4B6AE7-A094-1618-A3F3-7799F7537CA3}"/>
              </a:ext>
            </a:extLst>
          </p:cNvPr>
          <p:cNvSpPr txBox="1"/>
          <p:nvPr/>
        </p:nvSpPr>
        <p:spPr>
          <a:xfrm>
            <a:off x="6752281" y="779506"/>
            <a:ext cx="1914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600" b="1" i="0" u="none" strike="noStrike" kern="1200" cap="none" spc="0" normalizeH="0" baseline="0" noProof="1">
                <a:ln>
                  <a:noFill/>
                </a:ln>
                <a:solidFill>
                  <a:srgbClr val="481F63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3. Polígonos [.shp]</a:t>
            </a:r>
            <a:endParaRPr kumimoji="0" lang="es-ES_tradnl" sz="1600" b="0" i="0" u="none" strike="noStrike" kern="1200" cap="none" spc="0" normalizeH="0" baseline="0" noProof="1">
              <a:ln>
                <a:noFill/>
              </a:ln>
              <a:solidFill>
                <a:srgbClr val="481F63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8F4C994-0483-463D-7AEA-D80DACFB1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083" y="1118060"/>
            <a:ext cx="2517456" cy="3070308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BFE8D30-DCD9-7257-3FC6-DA4F35EBFB9F}"/>
              </a:ext>
            </a:extLst>
          </p:cNvPr>
          <p:cNvSpPr txBox="1"/>
          <p:nvPr/>
        </p:nvSpPr>
        <p:spPr>
          <a:xfrm>
            <a:off x="4735827" y="782677"/>
            <a:ext cx="1665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600" b="1" i="0" u="none" strike="noStrike" kern="1200" cap="none" spc="0" normalizeH="0" baseline="0" noProof="1">
                <a:ln>
                  <a:noFill/>
                </a:ln>
                <a:solidFill>
                  <a:srgbClr val="481F63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2. Puntos [.shp]</a:t>
            </a:r>
            <a:endParaRPr kumimoji="0" lang="es-ES_tradnl" sz="1600" b="0" i="0" u="none" strike="noStrike" kern="1200" cap="none" spc="0" normalizeH="0" baseline="0" noProof="1">
              <a:ln>
                <a:noFill/>
              </a:ln>
              <a:solidFill>
                <a:srgbClr val="481F63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pic>
        <p:nvPicPr>
          <p:cNvPr id="20" name="Imagen 19" descr="Marine Regions">
            <a:extLst>
              <a:ext uri="{FF2B5EF4-FFF2-40B4-BE49-F238E27FC236}">
                <a16:creationId xmlns:a16="http://schemas.microsoft.com/office/drawing/2014/main" id="{744A841B-85F2-D357-8CFE-170BB41793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7360" y="389896"/>
            <a:ext cx="1187836" cy="389610"/>
          </a:xfrm>
          <a:prstGeom prst="rect">
            <a:avLst/>
          </a:prstGeom>
        </p:spPr>
      </p:pic>
      <p:pic>
        <p:nvPicPr>
          <p:cNvPr id="21" name="Imagen 20" descr="How do the floats work? - Argo">
            <a:extLst>
              <a:ext uri="{FF2B5EF4-FFF2-40B4-BE49-F238E27FC236}">
                <a16:creationId xmlns:a16="http://schemas.microsoft.com/office/drawing/2014/main" id="{11ED6715-5CD4-50A1-1257-EFF2FFA455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2275" y="2576868"/>
            <a:ext cx="1532534" cy="1622181"/>
          </a:xfrm>
          <a:prstGeom prst="rect">
            <a:avLst/>
          </a:prstGeom>
        </p:spPr>
      </p:pic>
      <p:pic>
        <p:nvPicPr>
          <p:cNvPr id="22" name="Imagen 21" descr="Programa Argo">
            <a:extLst>
              <a:ext uri="{FF2B5EF4-FFF2-40B4-BE49-F238E27FC236}">
                <a16:creationId xmlns:a16="http://schemas.microsoft.com/office/drawing/2014/main" id="{85E57C9D-ADDF-2223-B397-45FE6F5D71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3018" y="1403133"/>
            <a:ext cx="1531791" cy="861633"/>
          </a:xfrm>
          <a:prstGeom prst="rect">
            <a:avLst/>
          </a:prstGeom>
        </p:spPr>
      </p:pic>
      <p:pic>
        <p:nvPicPr>
          <p:cNvPr id="24" name="Imagen 23" descr="Archivo:Argo Logo.png - Wikipedia, la enciclopedia libre">
            <a:extLst>
              <a:ext uri="{FF2B5EF4-FFF2-40B4-BE49-F238E27FC236}">
                <a16:creationId xmlns:a16="http://schemas.microsoft.com/office/drawing/2014/main" id="{BCF40439-9044-0D9C-FA3C-C7E908DE53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7166" y="389896"/>
            <a:ext cx="389610" cy="38961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865E85A8-A903-4D1C-6C75-4C402469CDC2}"/>
              </a:ext>
            </a:extLst>
          </p:cNvPr>
          <p:cNvSpPr txBox="1"/>
          <p:nvPr/>
        </p:nvSpPr>
        <p:spPr>
          <a:xfrm>
            <a:off x="4619887" y="1118059"/>
            <a:ext cx="17173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b="1" noProof="1">
                <a:solidFill>
                  <a:schemeClr val="tx2"/>
                </a:solidFill>
              </a:rPr>
              <a:t>2A. Instrumento: Boyas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FD02F04-9D08-ABD1-DB11-2A8A5B273A2D}"/>
              </a:ext>
            </a:extLst>
          </p:cNvPr>
          <p:cNvSpPr txBox="1"/>
          <p:nvPr/>
        </p:nvSpPr>
        <p:spPr>
          <a:xfrm>
            <a:off x="4647184" y="2314004"/>
            <a:ext cx="2017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b="1" noProof="1">
                <a:solidFill>
                  <a:schemeClr val="tx2"/>
                </a:solidFill>
              </a:rPr>
              <a:t>2B. Toma de datos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8C88E793-AB68-7B3B-8B9A-2223E1D043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88" y="1519944"/>
            <a:ext cx="2185052" cy="2752821"/>
          </a:xfrm>
          <a:prstGeom prst="rect">
            <a:avLst/>
          </a:prstGeom>
        </p:spPr>
      </p:pic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29D2A3C4-E0E7-2B70-3833-DFAF3E2F0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390812"/>
              </p:ext>
            </p:extLst>
          </p:nvPr>
        </p:nvGraphicFramePr>
        <p:xfrm>
          <a:off x="2303385" y="1519944"/>
          <a:ext cx="2162710" cy="27528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566">
                  <a:extLst>
                    <a:ext uri="{9D8B030D-6E8A-4147-A177-3AD203B41FA5}">
                      <a16:colId xmlns:a16="http://schemas.microsoft.com/office/drawing/2014/main" val="2497361556"/>
                    </a:ext>
                  </a:extLst>
                </a:gridCol>
                <a:gridCol w="1249144">
                  <a:extLst>
                    <a:ext uri="{9D8B030D-6E8A-4147-A177-3AD203B41FA5}">
                      <a16:colId xmlns:a16="http://schemas.microsoft.com/office/drawing/2014/main" val="3116003489"/>
                    </a:ext>
                  </a:extLst>
                </a:gridCol>
              </a:tblGrid>
              <a:tr h="283942">
                <a:tc>
                  <a:txBody>
                    <a:bodyPr/>
                    <a:lstStyle/>
                    <a:p>
                      <a:r>
                        <a:rPr lang="es-ES_tradnl" sz="12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 err="1"/>
                        <a:t>Thetao</a:t>
                      </a:r>
                      <a:endParaRPr lang="es-ES_tradnl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1414106"/>
                  </a:ext>
                </a:extLst>
              </a:tr>
              <a:tr h="522810">
                <a:tc>
                  <a:txBody>
                    <a:bodyPr/>
                    <a:lstStyle/>
                    <a:p>
                      <a:r>
                        <a:rPr lang="es-ES_tradnl" sz="1200" dirty="0"/>
                        <a:t>Fuente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/>
                        <a:t>Modelación numérica y observaciones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3364330"/>
                  </a:ext>
                </a:extLst>
              </a:tr>
              <a:tr h="373435">
                <a:tc>
                  <a:txBody>
                    <a:bodyPr/>
                    <a:lstStyle/>
                    <a:p>
                      <a:r>
                        <a:rPr lang="es-ES_tradnl" sz="1200" dirty="0"/>
                        <a:t>Serie de tiempo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/>
                        <a:t>1993-2022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132336"/>
                  </a:ext>
                </a:extLst>
              </a:tr>
              <a:tr h="373435">
                <a:tc>
                  <a:txBody>
                    <a:bodyPr/>
                    <a:lstStyle/>
                    <a:p>
                      <a:r>
                        <a:rPr lang="es-ES_tradnl" sz="1200" dirty="0"/>
                        <a:t>Resolución espacial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/>
                        <a:t>8 km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813427"/>
                  </a:ext>
                </a:extLst>
              </a:tr>
              <a:tr h="37343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200" dirty="0"/>
                        <a:t>Resolución 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/>
                        <a:t>Diaria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030947"/>
                  </a:ext>
                </a:extLst>
              </a:tr>
              <a:tr h="373435">
                <a:tc>
                  <a:txBody>
                    <a:bodyPr/>
                    <a:lstStyle/>
                    <a:p>
                      <a:r>
                        <a:rPr lang="es-ES_tradnl" sz="1200" dirty="0"/>
                        <a:t>Niveles verticales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_tradnl" sz="1200" dirty="0"/>
                        <a:t>36 (0 - 1000m)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16437"/>
                  </a:ext>
                </a:extLst>
              </a:tr>
            </a:tbl>
          </a:graphicData>
        </a:graphic>
      </p:graphicFrame>
      <p:sp>
        <p:nvSpPr>
          <p:cNvPr id="30" name="CuadroTexto 29">
            <a:extLst>
              <a:ext uri="{FF2B5EF4-FFF2-40B4-BE49-F238E27FC236}">
                <a16:creationId xmlns:a16="http://schemas.microsoft.com/office/drawing/2014/main" id="{17D87BCC-EDB2-FC9D-2BD8-A100DFADFF96}"/>
              </a:ext>
            </a:extLst>
          </p:cNvPr>
          <p:cNvSpPr txBox="1"/>
          <p:nvPr/>
        </p:nvSpPr>
        <p:spPr>
          <a:xfrm>
            <a:off x="1466380" y="1142619"/>
            <a:ext cx="25850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b="1" noProof="1">
                <a:solidFill>
                  <a:schemeClr val="tx2"/>
                </a:solidFill>
              </a:rPr>
              <a:t>1A. Datos de Reanálisis GLORYS12V1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757DB8C-EF2A-E561-EC90-D97870CA0DB8}"/>
              </a:ext>
            </a:extLst>
          </p:cNvPr>
          <p:cNvSpPr txBox="1"/>
          <p:nvPr/>
        </p:nvSpPr>
        <p:spPr>
          <a:xfrm>
            <a:off x="4647184" y="4210585"/>
            <a:ext cx="20174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b="1" noProof="1">
                <a:solidFill>
                  <a:schemeClr val="tx2"/>
                </a:solidFill>
              </a:rPr>
              <a:t>2c. Para validar Thetao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224DE42-8FFF-9708-6228-E9586CDBB370}"/>
              </a:ext>
            </a:extLst>
          </p:cNvPr>
          <p:cNvSpPr txBox="1"/>
          <p:nvPr/>
        </p:nvSpPr>
        <p:spPr>
          <a:xfrm>
            <a:off x="6674938" y="4210586"/>
            <a:ext cx="22813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200" b="1" noProof="1">
                <a:solidFill>
                  <a:schemeClr val="tx2"/>
                </a:solidFill>
              </a:rPr>
              <a:t>3A. Para extracción por AOI</a:t>
            </a:r>
          </a:p>
        </p:txBody>
      </p:sp>
    </p:spTree>
    <p:extLst>
      <p:ext uri="{BB962C8B-B14F-4D97-AF65-F5344CB8AC3E}">
        <p14:creationId xmlns:p14="http://schemas.microsoft.com/office/powerpoint/2010/main" val="183281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B2506-7613-C60E-4609-764BE7F3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0F202B7-7BE2-A7CE-267E-008CBCB1C378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srgbClr val="481F63"/>
                </a:solidFill>
                <a:effectLst/>
                <a:uLnTx/>
                <a:uFillTx/>
                <a:latin typeface="Ancizar Serif Extrabold" panose="020A0902070300000003" pitchFamily="18" charset="0"/>
                <a:ea typeface="+mj-ea"/>
                <a:cs typeface="Ancizar Sans Extrabold"/>
              </a:rPr>
              <a:t>Materiales y métodos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2E5176B-9741-A4B4-2C48-4C3DE3C7007A}"/>
              </a:ext>
            </a:extLst>
          </p:cNvPr>
          <p:cNvSpPr txBox="1"/>
          <p:nvPr/>
        </p:nvSpPr>
        <p:spPr>
          <a:xfrm>
            <a:off x="259080" y="4720590"/>
            <a:ext cx="4200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 err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Facultad de Minas</a:t>
            </a:r>
            <a:endParaRPr kumimoji="0" lang="en-US" sz="900" b="0" i="1" u="none" strike="noStrike" kern="1200" cap="none" spc="0" normalizeH="0" baseline="0" noProof="0" dirty="0">
              <a:ln>
                <a:noFill/>
              </a:ln>
              <a:solidFill>
                <a:srgbClr val="F7F5F2"/>
              </a:solidFill>
              <a:effectLst/>
              <a:uLnTx/>
              <a:uFillTx/>
              <a:latin typeface="Ancizar Sans" panose="020B0602040300000003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 err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Doctorado Ing. Sistemas e Informática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2BD8C886-AABA-3DD9-D724-FE8BE387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900" b="0" i="0" u="none" strike="noStrike" kern="1200" cap="none" spc="0" normalizeH="0" baseline="0" noProof="0" smtClean="0">
                <a:ln>
                  <a:noFill/>
                </a:ln>
                <a:solidFill>
                  <a:srgbClr val="29272D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" sz="900" b="0" i="0" u="none" strike="noStrike" kern="1200" cap="none" spc="0" normalizeH="0" baseline="0" noProof="0">
              <a:ln>
                <a:noFill/>
              </a:ln>
              <a:solidFill>
                <a:srgbClr val="29272D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368E5BA-DE52-311C-D320-B007FEDC446F}"/>
              </a:ext>
            </a:extLst>
          </p:cNvPr>
          <p:cNvSpPr txBox="1"/>
          <p:nvPr/>
        </p:nvSpPr>
        <p:spPr>
          <a:xfrm>
            <a:off x="423480" y="798757"/>
            <a:ext cx="7655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s-CO" sz="1600" b="1" i="0" u="none" strike="noStrike" kern="1200" cap="none" spc="0" normalizeH="0" baseline="0" noProof="0" dirty="0">
                <a:ln>
                  <a:noFill/>
                </a:ln>
                <a:solidFill>
                  <a:srgbClr val="481F63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OE1: </a:t>
            </a:r>
            <a:r>
              <a:rPr lang="es-CO" sz="1600" dirty="0">
                <a:solidFill>
                  <a:schemeClr val="tx2"/>
                </a:solidFill>
              </a:rPr>
              <a:t>Caracterizar las MHW y MCS por cada nivel de profundidad y zona de pesca.</a:t>
            </a:r>
            <a:endParaRPr kumimoji="0" lang="es-CO" sz="1600" i="0" u="none" strike="noStrike" kern="1200" cap="none" spc="0" normalizeH="0" baseline="0" noProof="0" dirty="0">
              <a:ln>
                <a:noFill/>
              </a:ln>
              <a:solidFill>
                <a:srgbClr val="481F63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5150D4-6A48-8181-4F4E-C7564B99F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95" y="760190"/>
            <a:ext cx="808255" cy="9386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A7E6465-7AAC-412B-FE86-18CBC10AFB52}"/>
              </a:ext>
            </a:extLst>
          </p:cNvPr>
          <p:cNvSpPr txBox="1"/>
          <p:nvPr/>
        </p:nvSpPr>
        <p:spPr>
          <a:xfrm>
            <a:off x="4845168" y="1845277"/>
            <a:ext cx="1511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600" b="1" dirty="0">
                <a:solidFill>
                  <a:srgbClr val="481F63"/>
                </a:solidFill>
                <a:latin typeface="Ancizar Sans Light"/>
              </a:rPr>
              <a:t>A. Propiedades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srgbClr val="481F63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8BDDE84-4E19-F2F8-D615-34DD06A6344C}"/>
              </a:ext>
            </a:extLst>
          </p:cNvPr>
          <p:cNvSpPr txBox="1"/>
          <p:nvPr/>
        </p:nvSpPr>
        <p:spPr>
          <a:xfrm>
            <a:off x="6679330" y="1847208"/>
            <a:ext cx="1511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600" b="1" dirty="0">
                <a:solidFill>
                  <a:srgbClr val="481F63"/>
                </a:solidFill>
                <a:latin typeface="Ancizar Sans Light"/>
              </a:rPr>
              <a:t>B. Severidad  </a:t>
            </a: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srgbClr val="481F63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5160513-0477-90D1-A9BF-0F673D3691F4}"/>
              </a:ext>
            </a:extLst>
          </p:cNvPr>
          <p:cNvSpPr txBox="1"/>
          <p:nvPr/>
        </p:nvSpPr>
        <p:spPr>
          <a:xfrm>
            <a:off x="4870028" y="2212338"/>
            <a:ext cx="1511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O" sz="1600" dirty="0">
                <a:solidFill>
                  <a:srgbClr val="481F63"/>
                </a:solidFill>
                <a:latin typeface="Ancizar Sans Light"/>
              </a:rPr>
              <a:t>Frecuencia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BBF6D4-BFBE-D595-D794-1E0BAC4527AE}"/>
              </a:ext>
            </a:extLst>
          </p:cNvPr>
          <p:cNvSpPr txBox="1"/>
          <p:nvPr/>
        </p:nvSpPr>
        <p:spPr>
          <a:xfrm>
            <a:off x="4870028" y="2578440"/>
            <a:ext cx="1511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O" sz="1600" dirty="0">
                <a:solidFill>
                  <a:srgbClr val="481F63"/>
                </a:solidFill>
                <a:latin typeface="Ancizar Sans Light"/>
              </a:rPr>
              <a:t>Duración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5AD5F96-7465-76D5-9870-2D7AA6233797}"/>
              </a:ext>
            </a:extLst>
          </p:cNvPr>
          <p:cNvSpPr txBox="1"/>
          <p:nvPr/>
        </p:nvSpPr>
        <p:spPr>
          <a:xfrm>
            <a:off x="4870028" y="2944542"/>
            <a:ext cx="1511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O" sz="1600" dirty="0">
                <a:solidFill>
                  <a:srgbClr val="481F63"/>
                </a:solidFill>
                <a:latin typeface="Ancizar Sans Light"/>
              </a:rPr>
              <a:t>Intensidad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4EA2231-0D54-A302-C05A-01FD0132F723}"/>
              </a:ext>
            </a:extLst>
          </p:cNvPr>
          <p:cNvSpPr txBox="1"/>
          <p:nvPr/>
        </p:nvSpPr>
        <p:spPr>
          <a:xfrm>
            <a:off x="6679330" y="2212338"/>
            <a:ext cx="1511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CO" sz="1600" dirty="0">
                <a:solidFill>
                  <a:srgbClr val="481F63"/>
                </a:solidFill>
                <a:latin typeface="Ancizar Sans Light"/>
              </a:rPr>
              <a:t>I.   Moderado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ECFD73B-B873-06BC-BCA9-B2450E98D726}"/>
              </a:ext>
            </a:extLst>
          </p:cNvPr>
          <p:cNvSpPr txBox="1"/>
          <p:nvPr/>
        </p:nvSpPr>
        <p:spPr>
          <a:xfrm>
            <a:off x="6679330" y="2578440"/>
            <a:ext cx="1511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600" dirty="0">
                <a:solidFill>
                  <a:srgbClr val="481F63"/>
                </a:solidFill>
                <a:latin typeface="Ancizar Sans Light"/>
              </a:rPr>
              <a:t>II.   Fuerte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9ABFF02-E4D2-5651-D68F-084D7D6E70C8}"/>
              </a:ext>
            </a:extLst>
          </p:cNvPr>
          <p:cNvSpPr txBox="1"/>
          <p:nvPr/>
        </p:nvSpPr>
        <p:spPr>
          <a:xfrm>
            <a:off x="6679330" y="2944542"/>
            <a:ext cx="1511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600" dirty="0">
                <a:solidFill>
                  <a:srgbClr val="481F63"/>
                </a:solidFill>
                <a:latin typeface="Ancizar Sans Light"/>
              </a:rPr>
              <a:t>III.  Grave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E8DF365-7869-D9B7-E2FA-EFC2A82259AF}"/>
              </a:ext>
            </a:extLst>
          </p:cNvPr>
          <p:cNvSpPr txBox="1"/>
          <p:nvPr/>
        </p:nvSpPr>
        <p:spPr>
          <a:xfrm>
            <a:off x="6679330" y="3308432"/>
            <a:ext cx="1511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600" dirty="0">
                <a:solidFill>
                  <a:srgbClr val="481F63"/>
                </a:solidFill>
                <a:latin typeface="Ancizar Sans Light"/>
              </a:rPr>
              <a:t>IV.   Extremo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1B56A26-171D-500C-2A7B-8CFB6B6E2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82" y="1475828"/>
            <a:ext cx="3405692" cy="129782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879C5B54-518B-CA5D-FCEC-30EE969A67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294" y="3186638"/>
            <a:ext cx="3405692" cy="1260719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55B801AA-0B68-80C7-7C4F-C8B23E50B18B}"/>
              </a:ext>
            </a:extLst>
          </p:cNvPr>
          <p:cNvSpPr txBox="1"/>
          <p:nvPr/>
        </p:nvSpPr>
        <p:spPr>
          <a:xfrm>
            <a:off x="407850" y="1177000"/>
            <a:ext cx="34533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s-ES" sz="1200" b="1" dirty="0">
                <a:solidFill>
                  <a:schemeClr val="tx2"/>
                </a:solidFill>
              </a:rPr>
              <a:t>1A. Serie temporal (</a:t>
            </a:r>
            <a:r>
              <a:rPr lang="es-ES" sz="1200" b="1" dirty="0" err="1">
                <a:solidFill>
                  <a:schemeClr val="tx2"/>
                </a:solidFill>
              </a:rPr>
              <a:t>MHWs</a:t>
            </a:r>
            <a:r>
              <a:rPr lang="es-ES" sz="1200" b="1" dirty="0">
                <a:solidFill>
                  <a:schemeClr val="tx2"/>
                </a:solidFill>
              </a:rPr>
              <a:t>) </a:t>
            </a:r>
            <a:r>
              <a:rPr lang="en-US" sz="1000" baseline="30000" dirty="0">
                <a:solidFill>
                  <a:schemeClr val="tx2"/>
                </a:solidFill>
              </a:rPr>
              <a:t>[1] </a:t>
            </a:r>
            <a:endParaRPr lang="en-US" sz="1200" b="0" baseline="30000" dirty="0">
              <a:solidFill>
                <a:schemeClr val="tx2"/>
              </a:solidFill>
              <a:effectLst/>
            </a:endParaRPr>
          </a:p>
          <a:p>
            <a:endParaRPr lang="es-ES_tradnl" sz="1200" b="1" dirty="0">
              <a:solidFill>
                <a:schemeClr val="tx2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BA0EA58-189A-C771-0613-3054CED3BE68}"/>
              </a:ext>
            </a:extLst>
          </p:cNvPr>
          <p:cNvSpPr txBox="1"/>
          <p:nvPr/>
        </p:nvSpPr>
        <p:spPr>
          <a:xfrm>
            <a:off x="407850" y="2889714"/>
            <a:ext cx="37433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solidFill>
                  <a:schemeClr val="tx2"/>
                </a:solidFill>
              </a:rPr>
              <a:t>1B. Serie temporal (</a:t>
            </a:r>
            <a:r>
              <a:rPr lang="es-ES" sz="1200" b="1" dirty="0" err="1">
                <a:solidFill>
                  <a:schemeClr val="tx2"/>
                </a:solidFill>
              </a:rPr>
              <a:t>MCSs</a:t>
            </a:r>
            <a:r>
              <a:rPr lang="es-ES" sz="1200" b="1" dirty="0">
                <a:solidFill>
                  <a:schemeClr val="tx2"/>
                </a:solidFill>
              </a:rPr>
              <a:t>) </a:t>
            </a:r>
            <a:r>
              <a:rPr lang="en-US" sz="1000" baseline="30000" dirty="0">
                <a:solidFill>
                  <a:schemeClr val="tx2"/>
                </a:solidFill>
              </a:rPr>
              <a:t>[1][2] </a:t>
            </a:r>
            <a:endParaRPr lang="en-US" sz="1200" b="0" baseline="30000" dirty="0">
              <a:solidFill>
                <a:schemeClr val="tx2"/>
              </a:solidFill>
              <a:effectLst/>
            </a:endParaRP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CCB6AF67-E94A-0F40-206D-ACE3BA91E929}"/>
              </a:ext>
            </a:extLst>
          </p:cNvPr>
          <p:cNvSpPr/>
          <p:nvPr/>
        </p:nvSpPr>
        <p:spPr>
          <a:xfrm>
            <a:off x="4726221" y="1727915"/>
            <a:ext cx="3464900" cy="2067471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Llave de cierre 24">
            <a:extLst>
              <a:ext uri="{FF2B5EF4-FFF2-40B4-BE49-F238E27FC236}">
                <a16:creationId xmlns:a16="http://schemas.microsoft.com/office/drawing/2014/main" id="{EF5B8627-2B73-B55E-5BFB-48794DB27F89}"/>
              </a:ext>
            </a:extLst>
          </p:cNvPr>
          <p:cNvSpPr/>
          <p:nvPr/>
        </p:nvSpPr>
        <p:spPr>
          <a:xfrm>
            <a:off x="3888986" y="1935271"/>
            <a:ext cx="789485" cy="1935271"/>
          </a:xfrm>
          <a:prstGeom prst="rightBrac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26" name="Imagen 25" descr="RStudio products - Rtask">
            <a:extLst>
              <a:ext uri="{FF2B5EF4-FFF2-40B4-BE49-F238E27FC236}">
                <a16:creationId xmlns:a16="http://schemas.microsoft.com/office/drawing/2014/main" id="{23D24C85-DB27-600F-8A16-3DF95D8048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7089" y="423787"/>
            <a:ext cx="959061" cy="33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81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CE125-D933-2DF8-D1E6-E18CA4C5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224373-8331-A246-86D7-DCA67795F7F3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srgbClr val="481F63"/>
                </a:solidFill>
                <a:effectLst/>
                <a:uLnTx/>
                <a:uFillTx/>
                <a:latin typeface="Ancizar Serif Extrabold" panose="020A0902070300000003" pitchFamily="18" charset="0"/>
                <a:ea typeface="+mj-ea"/>
                <a:cs typeface="Ancizar Sans Extrabold"/>
              </a:rPr>
              <a:t>Materiales y métodos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4DFE75-9F89-A648-0D26-05F4AB30A6EF}"/>
              </a:ext>
            </a:extLst>
          </p:cNvPr>
          <p:cNvSpPr txBox="1"/>
          <p:nvPr/>
        </p:nvSpPr>
        <p:spPr>
          <a:xfrm>
            <a:off x="259080" y="4720590"/>
            <a:ext cx="4200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 err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Facultad de Minas</a:t>
            </a:r>
            <a:endParaRPr kumimoji="0" lang="en-US" sz="900" b="0" i="1" u="none" strike="noStrike" kern="1200" cap="none" spc="0" normalizeH="0" baseline="0" noProof="0" dirty="0">
              <a:ln>
                <a:noFill/>
              </a:ln>
              <a:solidFill>
                <a:srgbClr val="F7F5F2"/>
              </a:solidFill>
              <a:effectLst/>
              <a:uLnTx/>
              <a:uFillTx/>
              <a:latin typeface="Ancizar Sans" panose="020B0602040300000003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 err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Doctorado Ing. Sistemas e Informática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6FA07DBD-2253-B0DA-94BF-1947A4FE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900" b="0" i="0" u="none" strike="noStrike" kern="1200" cap="none" spc="0" normalizeH="0" baseline="0" noProof="0" smtClean="0">
                <a:ln>
                  <a:noFill/>
                </a:ln>
                <a:solidFill>
                  <a:srgbClr val="29272D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900" b="0" i="0" u="none" strike="noStrike" kern="1200" cap="none" spc="0" normalizeH="0" baseline="0" noProof="0">
              <a:ln>
                <a:noFill/>
              </a:ln>
              <a:solidFill>
                <a:srgbClr val="29272D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52BCDD-F9ED-EC29-2FCD-F6854B5A1005}"/>
              </a:ext>
            </a:extLst>
          </p:cNvPr>
          <p:cNvSpPr txBox="1"/>
          <p:nvPr/>
        </p:nvSpPr>
        <p:spPr>
          <a:xfrm>
            <a:off x="423479" y="798757"/>
            <a:ext cx="8789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CO" sz="1600" b="1" i="0" u="none" strike="noStrike" kern="1200" cap="none" spc="0" normalizeH="0" baseline="0" noProof="0" dirty="0">
                <a:ln>
                  <a:noFill/>
                </a:ln>
                <a:solidFill>
                  <a:srgbClr val="481F63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OE2: </a:t>
            </a:r>
            <a:r>
              <a:rPr lang="es-CO" sz="1600" dirty="0">
                <a:solidFill>
                  <a:schemeClr val="tx2"/>
                </a:solidFill>
              </a:rPr>
              <a:t>Evaluar las tendencias y la variabilidad interanual de las propiedades de estos eventos y su relación con ENSO.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srgbClr val="481F63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35840A7-A6AA-1B2F-B46A-4069F58D52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801" t="4235" r="-497" b="51422"/>
          <a:stretch>
            <a:fillRect/>
          </a:stretch>
        </p:blipFill>
        <p:spPr>
          <a:xfrm>
            <a:off x="301256" y="1534346"/>
            <a:ext cx="5514235" cy="2874670"/>
          </a:xfrm>
          <a:prstGeom prst="rect">
            <a:avLst/>
          </a:prstGeom>
        </p:spPr>
      </p:pic>
      <p:sp>
        <p:nvSpPr>
          <p:cNvPr id="12" name="Llave de cierre 11">
            <a:extLst>
              <a:ext uri="{FF2B5EF4-FFF2-40B4-BE49-F238E27FC236}">
                <a16:creationId xmlns:a16="http://schemas.microsoft.com/office/drawing/2014/main" id="{9FF1551C-69F8-39D0-AAC8-CB1DFE8AD4B3}"/>
              </a:ext>
            </a:extLst>
          </p:cNvPr>
          <p:cNvSpPr/>
          <p:nvPr/>
        </p:nvSpPr>
        <p:spPr>
          <a:xfrm>
            <a:off x="5598211" y="1625878"/>
            <a:ext cx="789485" cy="2180492"/>
          </a:xfrm>
          <a:prstGeom prst="rightBrac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AFD517C-2CDA-F4DC-0C8A-D5D2B3C4D334}"/>
              </a:ext>
            </a:extLst>
          </p:cNvPr>
          <p:cNvSpPr txBox="1"/>
          <p:nvPr/>
        </p:nvSpPr>
        <p:spPr>
          <a:xfrm>
            <a:off x="6613064" y="2183974"/>
            <a:ext cx="21511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600" b="1" dirty="0">
                <a:solidFill>
                  <a:srgbClr val="481F63"/>
                </a:solidFill>
                <a:latin typeface="Ancizar Sans Light"/>
              </a:rPr>
              <a:t>Cruzar con series ENSO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600" b="1" i="0" u="none" strike="noStrike" kern="1200" cap="none" spc="0" normalizeH="0" baseline="0" noProof="0" dirty="0">
              <a:ln>
                <a:noFill/>
              </a:ln>
              <a:solidFill>
                <a:srgbClr val="481F63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C3F7B40-84B7-EF41-6EEB-5618ABE83752}"/>
              </a:ext>
            </a:extLst>
          </p:cNvPr>
          <p:cNvSpPr txBox="1"/>
          <p:nvPr/>
        </p:nvSpPr>
        <p:spPr>
          <a:xfrm>
            <a:off x="6613064" y="2484045"/>
            <a:ext cx="1502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O" sz="1600" dirty="0">
                <a:solidFill>
                  <a:srgbClr val="481F63"/>
                </a:solidFill>
                <a:latin typeface="Ancizar Sans Light"/>
              </a:rPr>
              <a:t>Niño</a:t>
            </a:r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2C2B93F9-5242-2ABD-B3A1-8D4D336E93C0}"/>
              </a:ext>
            </a:extLst>
          </p:cNvPr>
          <p:cNvSpPr/>
          <p:nvPr/>
        </p:nvSpPr>
        <p:spPr>
          <a:xfrm>
            <a:off x="6506306" y="2066613"/>
            <a:ext cx="2257865" cy="1198152"/>
          </a:xfrm>
          <a:prstGeom prst="roundRect">
            <a:avLst/>
          </a:prstGeom>
          <a:noFill/>
          <a:ln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5DD0619-B450-547C-4E16-7910065A2F2F}"/>
              </a:ext>
            </a:extLst>
          </p:cNvPr>
          <p:cNvSpPr txBox="1"/>
          <p:nvPr/>
        </p:nvSpPr>
        <p:spPr>
          <a:xfrm>
            <a:off x="6613064" y="2830898"/>
            <a:ext cx="1502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CO" sz="1600" dirty="0">
                <a:solidFill>
                  <a:srgbClr val="481F63"/>
                </a:solidFill>
                <a:latin typeface="Ancizar Sans Light"/>
              </a:rPr>
              <a:t>Niña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ACBF69A-260F-62D1-AD7F-975EFA681269}"/>
              </a:ext>
            </a:extLst>
          </p:cNvPr>
          <p:cNvSpPr txBox="1"/>
          <p:nvPr/>
        </p:nvSpPr>
        <p:spPr>
          <a:xfrm>
            <a:off x="5323097" y="1414244"/>
            <a:ext cx="3130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aseline="30000" dirty="0">
                <a:solidFill>
                  <a:schemeClr val="tx2"/>
                </a:solidFill>
              </a:rPr>
              <a:t>[4] 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23067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B2434-8E62-E3AC-94D4-C0F54C85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4B6D973-10EF-5B17-182D-C85067865414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srgbClr val="481F63"/>
                </a:solidFill>
                <a:effectLst/>
                <a:uLnTx/>
                <a:uFillTx/>
                <a:latin typeface="Ancizar Serif Extrabold" panose="020A0902070300000003" pitchFamily="18" charset="0"/>
                <a:ea typeface="+mj-ea"/>
                <a:cs typeface="Ancizar Sans Extrabold"/>
              </a:rPr>
              <a:t>Materiales y métodos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ADBD1DA-7FC9-DEC0-6A47-A0E06F56EB93}"/>
              </a:ext>
            </a:extLst>
          </p:cNvPr>
          <p:cNvSpPr txBox="1"/>
          <p:nvPr/>
        </p:nvSpPr>
        <p:spPr>
          <a:xfrm>
            <a:off x="259080" y="4720590"/>
            <a:ext cx="4200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 err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Facultad de Minas</a:t>
            </a:r>
            <a:endParaRPr kumimoji="0" lang="en-US" sz="900" b="0" i="1" u="none" strike="noStrike" kern="1200" cap="none" spc="0" normalizeH="0" baseline="0" noProof="0" dirty="0">
              <a:ln>
                <a:noFill/>
              </a:ln>
              <a:solidFill>
                <a:srgbClr val="F7F5F2"/>
              </a:solidFill>
              <a:effectLst/>
              <a:uLnTx/>
              <a:uFillTx/>
              <a:latin typeface="Ancizar Sans" panose="020B0602040300000003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 err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Doctorado Ing. Sistemas e Informática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5C856357-3E0D-5E3D-ABAC-4B394B4E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900" b="0" i="0" u="none" strike="noStrike" kern="1200" cap="none" spc="0" normalizeH="0" baseline="0" noProof="0" smtClean="0">
                <a:ln>
                  <a:noFill/>
                </a:ln>
                <a:solidFill>
                  <a:srgbClr val="29272D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900" b="0" i="0" u="none" strike="noStrike" kern="1200" cap="none" spc="0" normalizeH="0" baseline="0" noProof="0">
              <a:ln>
                <a:noFill/>
              </a:ln>
              <a:solidFill>
                <a:srgbClr val="29272D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52679BA-A261-979A-5000-0DF121B21C44}"/>
              </a:ext>
            </a:extLst>
          </p:cNvPr>
          <p:cNvSpPr txBox="1"/>
          <p:nvPr/>
        </p:nvSpPr>
        <p:spPr>
          <a:xfrm>
            <a:off x="423480" y="798757"/>
            <a:ext cx="7655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CO" sz="1600" b="1" i="0" u="none" strike="noStrike" kern="1200" cap="none" spc="0" normalizeH="0" baseline="0" noProof="0" dirty="0">
                <a:ln>
                  <a:noFill/>
                </a:ln>
                <a:solidFill>
                  <a:srgbClr val="481F63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t>OE3: </a:t>
            </a:r>
            <a:r>
              <a:rPr lang="es-CO" sz="1600" dirty="0">
                <a:solidFill>
                  <a:srgbClr val="481F63"/>
                </a:solidFill>
                <a:latin typeface="Ancizar Sans Light" panose="020B0502040300000003" pitchFamily="34" charset="0"/>
              </a:rPr>
              <a:t>Determinar la coherencia vertical de estos eventos extremos.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3AD289-BCD0-35B6-92AC-9FBB52887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80" y="1299369"/>
            <a:ext cx="7772400" cy="304537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AFD077C-FCBE-D45E-1298-F92E297CEA1E}"/>
              </a:ext>
            </a:extLst>
          </p:cNvPr>
          <p:cNvSpPr txBox="1"/>
          <p:nvPr/>
        </p:nvSpPr>
        <p:spPr>
          <a:xfrm>
            <a:off x="1164074" y="1276132"/>
            <a:ext cx="167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2"/>
                </a:solidFill>
              </a:rPr>
              <a:t>.  Superficiales</a:t>
            </a:r>
            <a:endParaRPr lang="es-ES_tradnl" sz="2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D8297B6-59B3-7CB8-DEFE-67260BADAA3B}"/>
              </a:ext>
            </a:extLst>
          </p:cNvPr>
          <p:cNvSpPr txBox="1"/>
          <p:nvPr/>
        </p:nvSpPr>
        <p:spPr>
          <a:xfrm>
            <a:off x="3834590" y="1278146"/>
            <a:ext cx="17924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2"/>
                </a:solidFill>
              </a:rPr>
              <a:t>.  Subsuperficiales</a:t>
            </a:r>
            <a:endParaRPr lang="es-ES_tradnl" sz="2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5A6E31B-2AD0-A83C-61EF-D468F433090B}"/>
              </a:ext>
            </a:extLst>
          </p:cNvPr>
          <p:cNvSpPr txBox="1"/>
          <p:nvPr/>
        </p:nvSpPr>
        <p:spPr>
          <a:xfrm>
            <a:off x="6424548" y="1279153"/>
            <a:ext cx="1623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2"/>
                </a:solidFill>
              </a:rPr>
              <a:t>. Mixtos</a:t>
            </a:r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1355748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539CA3-E116-14DD-607C-BFB1E099D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F4F7945-FFB4-F432-49EC-54D4045190C7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srgbClr val="481F63"/>
                </a:solidFill>
                <a:effectLst/>
                <a:uLnTx/>
                <a:uFillTx/>
                <a:latin typeface="Ancizar Serif Extrabold" panose="020A0902070300000003" pitchFamily="18" charset="0"/>
                <a:ea typeface="+mj-ea"/>
                <a:cs typeface="Ancizar Sans Extrabold"/>
              </a:rPr>
              <a:t>Referencias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2DDB881-F7AF-9A17-538D-070394C0B182}"/>
              </a:ext>
            </a:extLst>
          </p:cNvPr>
          <p:cNvSpPr txBox="1"/>
          <p:nvPr/>
        </p:nvSpPr>
        <p:spPr>
          <a:xfrm>
            <a:off x="259080" y="4720590"/>
            <a:ext cx="4200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 err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Facultad de Minas</a:t>
            </a:r>
            <a:endParaRPr kumimoji="0" lang="en-US" sz="900" b="0" i="1" u="none" strike="noStrike" kern="1200" cap="none" spc="0" normalizeH="0" baseline="0" noProof="0" dirty="0">
              <a:ln>
                <a:noFill/>
              </a:ln>
              <a:solidFill>
                <a:srgbClr val="F7F5F2"/>
              </a:solidFill>
              <a:effectLst/>
              <a:uLnTx/>
              <a:uFillTx/>
              <a:latin typeface="Ancizar Sans" panose="020B0602040300000003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 err="1">
                <a:ln>
                  <a:noFill/>
                </a:ln>
                <a:solidFill>
                  <a:srgbClr val="F7F5F2"/>
                </a:solidFill>
                <a:effectLst/>
                <a:uLnTx/>
                <a:uFillTx/>
                <a:latin typeface="Ancizar Sans" panose="020B0602040300000003" pitchFamily="34" charset="0"/>
                <a:ea typeface="+mn-ea"/>
                <a:cs typeface="+mn-cs"/>
              </a:rPr>
              <a:t>Doctorado Ing. Sistemas e Informática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EC649D8-FAD5-E337-8158-CE0160656436}"/>
              </a:ext>
            </a:extLst>
          </p:cNvPr>
          <p:cNvSpPr txBox="1"/>
          <p:nvPr/>
        </p:nvSpPr>
        <p:spPr>
          <a:xfrm>
            <a:off x="477376" y="875152"/>
            <a:ext cx="8071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r>
              <a:rPr lang="en-US" sz="1200" dirty="0">
                <a:solidFill>
                  <a:schemeClr val="tx2"/>
                </a:solidFill>
              </a:rPr>
              <a:t>[1] </a:t>
            </a:r>
            <a:r>
              <a:rPr lang="es-CO" sz="1200" dirty="0">
                <a:solidFill>
                  <a:schemeClr val="tx2"/>
                </a:solidFill>
              </a:rPr>
              <a:t>Hobday, A. J., Alexander, L. V., Perkins, S. E., Smale, D. A., Straub, S. C., Oliver, E. C. J., Benthuysen, J. A., Burrows, M. T., Donat, M. G., Feng, M., Holbrook, N. J., Moore, P. J., Scannell, H. A., Sen Gupta, A., &amp; Wernberg, T. (2016). A </a:t>
            </a:r>
            <a:r>
              <a:rPr lang="es-CO" sz="1200" dirty="0" err="1">
                <a:solidFill>
                  <a:schemeClr val="tx2"/>
                </a:solidFill>
              </a:rPr>
              <a:t>hierarchical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approach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to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defining</a:t>
            </a:r>
            <a:r>
              <a:rPr lang="es-CO" sz="1200" dirty="0">
                <a:solidFill>
                  <a:schemeClr val="tx2"/>
                </a:solidFill>
              </a:rPr>
              <a:t> marine </a:t>
            </a:r>
            <a:r>
              <a:rPr lang="es-CO" sz="1200" dirty="0" err="1">
                <a:solidFill>
                  <a:schemeClr val="tx2"/>
                </a:solidFill>
              </a:rPr>
              <a:t>heatwaves</a:t>
            </a:r>
            <a:r>
              <a:rPr lang="es-CO" sz="1200" dirty="0">
                <a:solidFill>
                  <a:schemeClr val="tx2"/>
                </a:solidFill>
              </a:rPr>
              <a:t>. </a:t>
            </a:r>
            <a:r>
              <a:rPr lang="es-CO" sz="1200" i="1" dirty="0" err="1">
                <a:solidFill>
                  <a:schemeClr val="tx2"/>
                </a:solidFill>
              </a:rPr>
              <a:t>Progress</a:t>
            </a:r>
            <a:r>
              <a:rPr lang="es-CO" sz="1200" i="1" dirty="0">
                <a:solidFill>
                  <a:schemeClr val="tx2"/>
                </a:solidFill>
              </a:rPr>
              <a:t> in </a:t>
            </a:r>
            <a:r>
              <a:rPr lang="es-CO" sz="1200" i="1" dirty="0" err="1">
                <a:solidFill>
                  <a:schemeClr val="tx2"/>
                </a:solidFill>
              </a:rPr>
              <a:t>Oceanography</a:t>
            </a:r>
            <a:r>
              <a:rPr lang="es-CO" sz="1200" dirty="0">
                <a:solidFill>
                  <a:schemeClr val="tx2"/>
                </a:solidFill>
              </a:rPr>
              <a:t>, </a:t>
            </a:r>
            <a:r>
              <a:rPr lang="es-CO" sz="1200" i="1" dirty="0">
                <a:solidFill>
                  <a:schemeClr val="tx2"/>
                </a:solidFill>
              </a:rPr>
              <a:t>141</a:t>
            </a:r>
            <a:r>
              <a:rPr lang="es-CO" sz="1200" dirty="0">
                <a:solidFill>
                  <a:schemeClr val="tx2"/>
                </a:solidFill>
              </a:rPr>
              <a:t>, 227–238. </a:t>
            </a:r>
            <a:r>
              <a:rPr lang="es-CO" sz="1200" dirty="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https://doi.org/10.1016/j.pocean.2015.12.014</a:t>
            </a:r>
            <a:endParaRPr lang="es-CO" sz="1200" dirty="0">
              <a:solidFill>
                <a:schemeClr val="tx2"/>
              </a:solidFill>
            </a:endParaRPr>
          </a:p>
          <a:p>
            <a:r>
              <a:rPr lang="en-US" sz="1200" dirty="0">
                <a:solidFill>
                  <a:schemeClr val="tx2"/>
                </a:solidFill>
              </a:rPr>
              <a:t>[2] </a:t>
            </a:r>
            <a:r>
              <a:rPr lang="es-CO" sz="1200" dirty="0">
                <a:solidFill>
                  <a:schemeClr val="tx2"/>
                </a:solidFill>
              </a:rPr>
              <a:t>Schlegel, R. W., &amp; Smit, A. J. (2018). </a:t>
            </a:r>
            <a:r>
              <a:rPr lang="es-CO" sz="1200" dirty="0" err="1">
                <a:solidFill>
                  <a:schemeClr val="tx2"/>
                </a:solidFill>
              </a:rPr>
              <a:t>heatwaveR</a:t>
            </a:r>
            <a:r>
              <a:rPr lang="es-CO" sz="1200" dirty="0">
                <a:solidFill>
                  <a:schemeClr val="tx2"/>
                </a:solidFill>
              </a:rPr>
              <a:t>: A central </a:t>
            </a:r>
            <a:r>
              <a:rPr lang="es-CO" sz="1200" dirty="0" err="1">
                <a:solidFill>
                  <a:schemeClr val="tx2"/>
                </a:solidFill>
              </a:rPr>
              <a:t>algorithm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for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the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detection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of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heatwaves</a:t>
            </a:r>
            <a:r>
              <a:rPr lang="es-CO" sz="1200" dirty="0">
                <a:solidFill>
                  <a:schemeClr val="tx2"/>
                </a:solidFill>
              </a:rPr>
              <a:t> and </a:t>
            </a:r>
            <a:r>
              <a:rPr lang="es-CO" sz="1200" dirty="0" err="1">
                <a:solidFill>
                  <a:schemeClr val="tx2"/>
                </a:solidFill>
              </a:rPr>
              <a:t>cold-spells</a:t>
            </a:r>
            <a:r>
              <a:rPr lang="es-CO" sz="1200" dirty="0">
                <a:solidFill>
                  <a:schemeClr val="tx2"/>
                </a:solidFill>
              </a:rPr>
              <a:t>. </a:t>
            </a:r>
            <a:r>
              <a:rPr lang="es-CO" sz="1200" i="1" dirty="0" err="1">
                <a:solidFill>
                  <a:schemeClr val="tx2"/>
                </a:solidFill>
              </a:rPr>
              <a:t>Journal</a:t>
            </a:r>
            <a:r>
              <a:rPr lang="es-CO" sz="1200" i="1" dirty="0">
                <a:solidFill>
                  <a:schemeClr val="tx2"/>
                </a:solidFill>
              </a:rPr>
              <a:t> </a:t>
            </a:r>
            <a:r>
              <a:rPr lang="es-CO" sz="1200" i="1" dirty="0" err="1">
                <a:solidFill>
                  <a:schemeClr val="tx2"/>
                </a:solidFill>
              </a:rPr>
              <a:t>of</a:t>
            </a:r>
            <a:r>
              <a:rPr lang="es-CO" sz="1200" i="1" dirty="0">
                <a:solidFill>
                  <a:schemeClr val="tx2"/>
                </a:solidFill>
              </a:rPr>
              <a:t> Open </a:t>
            </a:r>
            <a:r>
              <a:rPr lang="es-CO" sz="1200" i="1" dirty="0" err="1">
                <a:solidFill>
                  <a:schemeClr val="tx2"/>
                </a:solidFill>
              </a:rPr>
              <a:t>Source</a:t>
            </a:r>
            <a:r>
              <a:rPr lang="es-CO" sz="1200" i="1" dirty="0">
                <a:solidFill>
                  <a:schemeClr val="tx2"/>
                </a:solidFill>
              </a:rPr>
              <a:t> Software</a:t>
            </a:r>
            <a:r>
              <a:rPr lang="es-CO" sz="1200" dirty="0">
                <a:solidFill>
                  <a:schemeClr val="tx2"/>
                </a:solidFill>
              </a:rPr>
              <a:t>, </a:t>
            </a:r>
            <a:r>
              <a:rPr lang="es-CO" sz="1200" i="1" dirty="0">
                <a:solidFill>
                  <a:schemeClr val="tx2"/>
                </a:solidFill>
              </a:rPr>
              <a:t>3</a:t>
            </a:r>
            <a:r>
              <a:rPr lang="es-CO" sz="1200" dirty="0">
                <a:solidFill>
                  <a:schemeClr val="tx2"/>
                </a:solidFill>
              </a:rPr>
              <a:t>(27), 821. </a:t>
            </a:r>
            <a:r>
              <a:rPr lang="es-CO" sz="1200" dirty="0">
                <a:solidFill>
                  <a:schemeClr val="tx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https://doi.org/10.21105/joss.00821</a:t>
            </a:r>
            <a:endParaRPr lang="es-CO" sz="1200" dirty="0">
              <a:solidFill>
                <a:schemeClr val="tx2"/>
              </a:solidFill>
            </a:endParaRPr>
          </a:p>
          <a:p>
            <a:r>
              <a:rPr lang="en-US" sz="1200" dirty="0">
                <a:solidFill>
                  <a:schemeClr val="tx2"/>
                </a:solidFill>
              </a:rPr>
              <a:t>[3] </a:t>
            </a:r>
            <a:r>
              <a:rPr lang="es-CO" sz="1200" dirty="0">
                <a:solidFill>
                  <a:schemeClr val="tx2"/>
                </a:solidFill>
              </a:rPr>
              <a:t>Smith, K. E., Burrows, M. T., Hobday, A. J., King, N. G., Moore, P. J., Sen Gupta, A., Thomsen, M. S., Wernberg, T., &amp; Smale, D. A. (2023). </a:t>
            </a:r>
            <a:r>
              <a:rPr lang="es-CO" sz="1200" dirty="0" err="1">
                <a:solidFill>
                  <a:schemeClr val="tx2"/>
                </a:solidFill>
              </a:rPr>
              <a:t>Biological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impacts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of</a:t>
            </a:r>
            <a:r>
              <a:rPr lang="es-CO" sz="1200" dirty="0">
                <a:solidFill>
                  <a:schemeClr val="tx2"/>
                </a:solidFill>
              </a:rPr>
              <a:t> marine </a:t>
            </a:r>
            <a:r>
              <a:rPr lang="es-CO" sz="1200" dirty="0" err="1">
                <a:solidFill>
                  <a:schemeClr val="tx2"/>
                </a:solidFill>
              </a:rPr>
              <a:t>heatwaves</a:t>
            </a:r>
            <a:r>
              <a:rPr lang="es-CO" sz="1200" dirty="0">
                <a:solidFill>
                  <a:schemeClr val="tx2"/>
                </a:solidFill>
              </a:rPr>
              <a:t>. </a:t>
            </a:r>
            <a:r>
              <a:rPr lang="es-CO" sz="1200" i="1" dirty="0" err="1">
                <a:solidFill>
                  <a:schemeClr val="tx2"/>
                </a:solidFill>
              </a:rPr>
              <a:t>Annual</a:t>
            </a:r>
            <a:r>
              <a:rPr lang="es-CO" sz="1200" i="1" dirty="0">
                <a:solidFill>
                  <a:schemeClr val="tx2"/>
                </a:solidFill>
              </a:rPr>
              <a:t> </a:t>
            </a:r>
            <a:r>
              <a:rPr lang="es-CO" sz="1200" i="1" dirty="0" err="1">
                <a:solidFill>
                  <a:schemeClr val="tx2"/>
                </a:solidFill>
              </a:rPr>
              <a:t>Review</a:t>
            </a:r>
            <a:r>
              <a:rPr lang="es-CO" sz="1200" i="1" dirty="0">
                <a:solidFill>
                  <a:schemeClr val="tx2"/>
                </a:solidFill>
              </a:rPr>
              <a:t> </a:t>
            </a:r>
            <a:r>
              <a:rPr lang="es-CO" sz="1200" i="1" dirty="0" err="1">
                <a:solidFill>
                  <a:schemeClr val="tx2"/>
                </a:solidFill>
              </a:rPr>
              <a:t>of</a:t>
            </a:r>
            <a:r>
              <a:rPr lang="es-CO" sz="1200" i="1" dirty="0">
                <a:solidFill>
                  <a:schemeClr val="tx2"/>
                </a:solidFill>
              </a:rPr>
              <a:t> Marine </a:t>
            </a:r>
            <a:r>
              <a:rPr lang="es-CO" sz="1200" i="1" dirty="0" err="1">
                <a:solidFill>
                  <a:schemeClr val="tx2"/>
                </a:solidFill>
              </a:rPr>
              <a:t>Science</a:t>
            </a:r>
            <a:r>
              <a:rPr lang="es-CO" sz="1200" dirty="0">
                <a:solidFill>
                  <a:schemeClr val="tx2"/>
                </a:solidFill>
              </a:rPr>
              <a:t>, </a:t>
            </a:r>
            <a:r>
              <a:rPr lang="es-CO" sz="1200" i="1" dirty="0">
                <a:solidFill>
                  <a:schemeClr val="tx2"/>
                </a:solidFill>
              </a:rPr>
              <a:t>15</a:t>
            </a:r>
            <a:r>
              <a:rPr lang="es-CO" sz="1200" dirty="0">
                <a:solidFill>
                  <a:schemeClr val="tx2"/>
                </a:solidFill>
              </a:rPr>
              <a:t>, 119–145. </a:t>
            </a:r>
            <a:r>
              <a:rPr lang="es-CO" sz="1200" dirty="0">
                <a:solidFill>
                  <a:schemeClr val="tx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https://doi.org/10.1146/annurev-marine-032122-121437</a:t>
            </a:r>
            <a:endParaRPr lang="es-CO" sz="1200" dirty="0">
              <a:solidFill>
                <a:schemeClr val="tx2"/>
              </a:solidFill>
            </a:endParaRPr>
          </a:p>
          <a:p>
            <a:r>
              <a:rPr lang="es-CO" dirty="0">
                <a:solidFill>
                  <a:schemeClr val="tx2"/>
                </a:solidFill>
                <a:latin typeface="Ancizar Sans" panose="020B0602040300000003"/>
              </a:rPr>
              <a:t>[4] </a:t>
            </a:r>
            <a:r>
              <a:rPr lang="es-CO" dirty="0" err="1">
                <a:solidFill>
                  <a:schemeClr val="tx2"/>
                </a:solidFill>
              </a:rPr>
              <a:t>Sun</a:t>
            </a:r>
            <a:r>
              <a:rPr lang="es-CO" dirty="0">
                <a:solidFill>
                  <a:schemeClr val="tx2"/>
                </a:solidFill>
              </a:rPr>
              <a:t>, D., Li, F., Jing, Z. </a:t>
            </a:r>
            <a:r>
              <a:rPr lang="es-CO" i="1" dirty="0">
                <a:solidFill>
                  <a:schemeClr val="tx2"/>
                </a:solidFill>
              </a:rPr>
              <a:t>et al.</a:t>
            </a:r>
            <a:r>
              <a:rPr lang="es-CO" dirty="0">
                <a:solidFill>
                  <a:schemeClr val="tx2"/>
                </a:solidFill>
              </a:rPr>
              <a:t> </a:t>
            </a:r>
            <a:r>
              <a:rPr lang="es-CO" dirty="0" err="1">
                <a:solidFill>
                  <a:schemeClr val="tx2"/>
                </a:solidFill>
              </a:rPr>
              <a:t>Frequent</a:t>
            </a:r>
            <a:r>
              <a:rPr lang="es-CO" dirty="0">
                <a:solidFill>
                  <a:schemeClr val="tx2"/>
                </a:solidFill>
              </a:rPr>
              <a:t> marine </a:t>
            </a:r>
            <a:r>
              <a:rPr lang="es-CO" dirty="0" err="1">
                <a:solidFill>
                  <a:schemeClr val="tx2"/>
                </a:solidFill>
              </a:rPr>
              <a:t>heatwaves</a:t>
            </a:r>
            <a:r>
              <a:rPr lang="es-CO" dirty="0">
                <a:solidFill>
                  <a:schemeClr val="tx2"/>
                </a:solidFill>
              </a:rPr>
              <a:t> </a:t>
            </a:r>
            <a:r>
              <a:rPr lang="es-CO" dirty="0" err="1">
                <a:solidFill>
                  <a:schemeClr val="tx2"/>
                </a:solidFill>
              </a:rPr>
              <a:t>hidden</a:t>
            </a:r>
            <a:r>
              <a:rPr lang="es-CO" dirty="0">
                <a:solidFill>
                  <a:schemeClr val="tx2"/>
                </a:solidFill>
              </a:rPr>
              <a:t> </a:t>
            </a:r>
            <a:r>
              <a:rPr lang="es-CO" dirty="0" err="1">
                <a:solidFill>
                  <a:schemeClr val="tx2"/>
                </a:solidFill>
              </a:rPr>
              <a:t>below</a:t>
            </a:r>
            <a:r>
              <a:rPr lang="es-CO" dirty="0">
                <a:solidFill>
                  <a:schemeClr val="tx2"/>
                </a:solidFill>
              </a:rPr>
              <a:t> </a:t>
            </a:r>
            <a:r>
              <a:rPr lang="es-CO" dirty="0" err="1">
                <a:solidFill>
                  <a:schemeClr val="tx2"/>
                </a:solidFill>
              </a:rPr>
              <a:t>the</a:t>
            </a:r>
            <a:r>
              <a:rPr lang="es-CO" dirty="0">
                <a:solidFill>
                  <a:schemeClr val="tx2"/>
                </a:solidFill>
              </a:rPr>
              <a:t> </a:t>
            </a:r>
            <a:r>
              <a:rPr lang="es-CO" dirty="0" err="1">
                <a:solidFill>
                  <a:schemeClr val="tx2"/>
                </a:solidFill>
              </a:rPr>
              <a:t>surface</a:t>
            </a:r>
            <a:r>
              <a:rPr lang="es-CO" dirty="0">
                <a:solidFill>
                  <a:schemeClr val="tx2"/>
                </a:solidFill>
              </a:rPr>
              <a:t> </a:t>
            </a:r>
            <a:r>
              <a:rPr lang="es-CO" dirty="0" err="1">
                <a:solidFill>
                  <a:schemeClr val="tx2"/>
                </a:solidFill>
              </a:rPr>
              <a:t>of</a:t>
            </a:r>
            <a:r>
              <a:rPr lang="es-CO" dirty="0">
                <a:solidFill>
                  <a:schemeClr val="tx2"/>
                </a:solidFill>
              </a:rPr>
              <a:t> </a:t>
            </a:r>
            <a:r>
              <a:rPr lang="es-CO" dirty="0" err="1">
                <a:solidFill>
                  <a:schemeClr val="tx2"/>
                </a:solidFill>
              </a:rPr>
              <a:t>the</a:t>
            </a:r>
            <a:r>
              <a:rPr lang="es-CO" dirty="0">
                <a:solidFill>
                  <a:schemeClr val="tx2"/>
                </a:solidFill>
              </a:rPr>
              <a:t> global </a:t>
            </a:r>
            <a:r>
              <a:rPr lang="es-CO" dirty="0" err="1">
                <a:solidFill>
                  <a:schemeClr val="tx2"/>
                </a:solidFill>
              </a:rPr>
              <a:t>ocean</a:t>
            </a:r>
            <a:r>
              <a:rPr lang="es-CO" dirty="0">
                <a:solidFill>
                  <a:schemeClr val="tx2"/>
                </a:solidFill>
              </a:rPr>
              <a:t>. </a:t>
            </a:r>
            <a:r>
              <a:rPr lang="es-CO" i="1" dirty="0">
                <a:solidFill>
                  <a:schemeClr val="tx2"/>
                </a:solidFill>
              </a:rPr>
              <a:t>Nat. </a:t>
            </a:r>
            <a:r>
              <a:rPr lang="es-CO" i="1" dirty="0" err="1">
                <a:solidFill>
                  <a:schemeClr val="tx2"/>
                </a:solidFill>
              </a:rPr>
              <a:t>Geosci</a:t>
            </a:r>
            <a:r>
              <a:rPr lang="es-CO" i="1" dirty="0">
                <a:solidFill>
                  <a:schemeClr val="tx2"/>
                </a:solidFill>
              </a:rPr>
              <a:t>.</a:t>
            </a:r>
            <a:r>
              <a:rPr lang="es-CO" dirty="0">
                <a:solidFill>
                  <a:schemeClr val="tx2"/>
                </a:solidFill>
              </a:rPr>
              <a:t> </a:t>
            </a:r>
            <a:r>
              <a:rPr lang="es-CO" b="1" dirty="0">
                <a:solidFill>
                  <a:schemeClr val="tx2"/>
                </a:solidFill>
              </a:rPr>
              <a:t>16</a:t>
            </a:r>
            <a:r>
              <a:rPr lang="es-CO" dirty="0">
                <a:solidFill>
                  <a:schemeClr val="tx2"/>
                </a:solidFill>
              </a:rPr>
              <a:t>, 1099–1104 (2023). https://</a:t>
            </a:r>
            <a:r>
              <a:rPr lang="es-CO" dirty="0" err="1">
                <a:solidFill>
                  <a:schemeClr val="tx2"/>
                </a:solidFill>
              </a:rPr>
              <a:t>doi.org</a:t>
            </a:r>
            <a:r>
              <a:rPr lang="es-CO" dirty="0">
                <a:solidFill>
                  <a:schemeClr val="tx2"/>
                </a:solidFill>
              </a:rPr>
              <a:t>/10.1038/s41561-023-01325-w</a:t>
            </a:r>
            <a:endParaRPr lang="es-CO" sz="1200" dirty="0">
              <a:solidFill>
                <a:schemeClr val="tx2"/>
              </a:solidFill>
            </a:endParaRPr>
          </a:p>
          <a:p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[4] Trainer, V. L., Bates, S. S., Lundholm, N., Thessen, A. E., </a:t>
            </a:r>
            <a:r>
              <a:rPr lang="es-CO" sz="1200" dirty="0" err="1">
                <a:solidFill>
                  <a:schemeClr val="tx2"/>
                </a:solidFill>
                <a:latin typeface="Ancizar Sans" panose="020B0602040300000003"/>
              </a:rPr>
              <a:t>Cochlan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, W. P., Adams, N. G., &amp; Trick, C. G. (2020). </a:t>
            </a:r>
            <a:r>
              <a:rPr lang="es-CO" sz="1200" dirty="0" err="1">
                <a:solidFill>
                  <a:schemeClr val="tx2"/>
                </a:solidFill>
                <a:latin typeface="Ancizar Sans" panose="020B0602040300000003"/>
              </a:rPr>
              <a:t>Pelagic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 </a:t>
            </a:r>
            <a:r>
              <a:rPr lang="es-CO" sz="1200" dirty="0" err="1">
                <a:solidFill>
                  <a:schemeClr val="tx2"/>
                </a:solidFill>
                <a:latin typeface="Ancizar Sans" panose="020B0602040300000003"/>
              </a:rPr>
              <a:t>harmful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 algal </a:t>
            </a:r>
            <a:r>
              <a:rPr lang="es-CO" sz="1200" dirty="0" err="1">
                <a:solidFill>
                  <a:schemeClr val="tx2"/>
                </a:solidFill>
                <a:latin typeface="Ancizar Sans" panose="020B0602040300000003"/>
              </a:rPr>
              <a:t>blooms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 and </a:t>
            </a:r>
            <a:r>
              <a:rPr lang="es-CO" sz="1200" dirty="0" err="1">
                <a:solidFill>
                  <a:schemeClr val="tx2"/>
                </a:solidFill>
                <a:latin typeface="Ancizar Sans" panose="020B0602040300000003"/>
              </a:rPr>
              <a:t>climate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 </a:t>
            </a:r>
            <a:r>
              <a:rPr lang="es-CO" sz="1200" dirty="0" err="1">
                <a:solidFill>
                  <a:schemeClr val="tx2"/>
                </a:solidFill>
                <a:latin typeface="Ancizar Sans" panose="020B0602040300000003"/>
              </a:rPr>
              <a:t>change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: </a:t>
            </a:r>
            <a:r>
              <a:rPr lang="es-CO" sz="1200" dirty="0" err="1">
                <a:solidFill>
                  <a:schemeClr val="tx2"/>
                </a:solidFill>
                <a:latin typeface="Ancizar Sans" panose="020B0602040300000003"/>
              </a:rPr>
              <a:t>Lessons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 </a:t>
            </a:r>
            <a:r>
              <a:rPr lang="es-CO" sz="1200" dirty="0" err="1">
                <a:solidFill>
                  <a:schemeClr val="tx2"/>
                </a:solidFill>
                <a:latin typeface="Ancizar Sans" panose="020B0602040300000003"/>
              </a:rPr>
              <a:t>from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 </a:t>
            </a:r>
            <a:r>
              <a:rPr lang="es-CO" sz="1200" dirty="0" err="1">
                <a:solidFill>
                  <a:schemeClr val="tx2"/>
                </a:solidFill>
                <a:latin typeface="Ancizar Sans" panose="020B0602040300000003"/>
              </a:rPr>
              <a:t>nature's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 </a:t>
            </a:r>
            <a:r>
              <a:rPr lang="es-CO" sz="1200" dirty="0" err="1">
                <a:solidFill>
                  <a:schemeClr val="tx2"/>
                </a:solidFill>
                <a:latin typeface="Ancizar Sans" panose="020B0602040300000003"/>
              </a:rPr>
              <a:t>experiments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 </a:t>
            </a:r>
            <a:r>
              <a:rPr lang="es-CO" sz="1200" dirty="0" err="1">
                <a:solidFill>
                  <a:schemeClr val="tx2"/>
                </a:solidFill>
                <a:latin typeface="Ancizar Sans" panose="020B0602040300000003"/>
              </a:rPr>
              <a:t>with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 extremes. </a:t>
            </a:r>
            <a:r>
              <a:rPr lang="es-CO" sz="1200" i="1" dirty="0" err="1">
                <a:solidFill>
                  <a:schemeClr val="tx2"/>
                </a:solidFill>
                <a:latin typeface="Ancizar Sans" panose="020B0602040300000003"/>
              </a:rPr>
              <a:t>Harmful</a:t>
            </a:r>
            <a:r>
              <a:rPr lang="es-CO" sz="1200" i="1" dirty="0">
                <a:solidFill>
                  <a:schemeClr val="tx2"/>
                </a:solidFill>
                <a:latin typeface="Ancizar Sans" panose="020B0602040300000003"/>
              </a:rPr>
              <a:t> </a:t>
            </a:r>
            <a:r>
              <a:rPr lang="es-CO" sz="1200" i="1" dirty="0" err="1">
                <a:solidFill>
                  <a:schemeClr val="tx2"/>
                </a:solidFill>
                <a:latin typeface="Ancizar Sans" panose="020B0602040300000003"/>
              </a:rPr>
              <a:t>Algae</a:t>
            </a:r>
            <a:r>
              <a:rPr lang="es-CO" sz="1200" i="1" dirty="0">
                <a:solidFill>
                  <a:schemeClr val="tx2"/>
                </a:solidFill>
                <a:latin typeface="Ancizar Sans" panose="020B0602040300000003"/>
              </a:rPr>
              <a:t>, 91, 101591.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</a:rPr>
              <a:t> </a:t>
            </a:r>
            <a:r>
              <a:rPr lang="es-CO" sz="1200" dirty="0">
                <a:solidFill>
                  <a:schemeClr val="tx2"/>
                </a:solidFill>
                <a:latin typeface="Ancizar Sans" panose="020B0602040300000003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https://doi.org/10.1016/j.hal.2019.03.009</a:t>
            </a:r>
            <a:endParaRPr lang="es-CO" sz="1200" dirty="0">
              <a:solidFill>
                <a:schemeClr val="tx2"/>
              </a:solidFill>
            </a:endParaRPr>
          </a:p>
          <a:p>
            <a:r>
              <a:rPr lang="en-US" sz="1200" dirty="0">
                <a:solidFill>
                  <a:schemeClr val="tx2"/>
                </a:solidFill>
              </a:rPr>
              <a:t>[5] </a:t>
            </a:r>
            <a:r>
              <a:rPr lang="es-CO" sz="1200" dirty="0">
                <a:solidFill>
                  <a:schemeClr val="tx2"/>
                </a:solidFill>
              </a:rPr>
              <a:t>Wang, Y., </a:t>
            </a:r>
            <a:r>
              <a:rPr lang="es-CO" sz="1200" dirty="0" err="1">
                <a:solidFill>
                  <a:schemeClr val="tx2"/>
                </a:solidFill>
              </a:rPr>
              <a:t>Kajtar</a:t>
            </a:r>
            <a:r>
              <a:rPr lang="es-CO" sz="1200" dirty="0">
                <a:solidFill>
                  <a:schemeClr val="tx2"/>
                </a:solidFill>
              </a:rPr>
              <a:t>, J. B., Alexander, L. V., Pilo, G. S., &amp; Holbrook, N. J. (2022). </a:t>
            </a:r>
            <a:r>
              <a:rPr lang="es-CO" sz="1200" dirty="0" err="1">
                <a:solidFill>
                  <a:schemeClr val="tx2"/>
                </a:solidFill>
              </a:rPr>
              <a:t>Understanding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the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changing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nature</a:t>
            </a:r>
            <a:r>
              <a:rPr lang="es-CO" sz="1200" dirty="0">
                <a:solidFill>
                  <a:schemeClr val="tx2"/>
                </a:solidFill>
              </a:rPr>
              <a:t> </a:t>
            </a:r>
            <a:r>
              <a:rPr lang="es-CO" sz="1200" dirty="0" err="1">
                <a:solidFill>
                  <a:schemeClr val="tx2"/>
                </a:solidFill>
              </a:rPr>
              <a:t>of</a:t>
            </a:r>
            <a:r>
              <a:rPr lang="es-CO" sz="1200" dirty="0">
                <a:solidFill>
                  <a:schemeClr val="tx2"/>
                </a:solidFill>
              </a:rPr>
              <a:t> marine </a:t>
            </a:r>
            <a:r>
              <a:rPr lang="es-CO" sz="1200" dirty="0" err="1">
                <a:solidFill>
                  <a:schemeClr val="tx2"/>
                </a:solidFill>
              </a:rPr>
              <a:t>cold-spells</a:t>
            </a:r>
            <a:r>
              <a:rPr lang="es-CO" sz="1200" dirty="0">
                <a:solidFill>
                  <a:schemeClr val="tx2"/>
                </a:solidFill>
              </a:rPr>
              <a:t>. </a:t>
            </a:r>
            <a:r>
              <a:rPr lang="es-CO" sz="1200" i="1" dirty="0" err="1">
                <a:solidFill>
                  <a:schemeClr val="tx2"/>
                </a:solidFill>
              </a:rPr>
              <a:t>Geophysical</a:t>
            </a:r>
            <a:r>
              <a:rPr lang="es-CO" sz="1200" i="1" dirty="0">
                <a:solidFill>
                  <a:schemeClr val="tx2"/>
                </a:solidFill>
              </a:rPr>
              <a:t> </a:t>
            </a:r>
            <a:r>
              <a:rPr lang="es-CO" sz="1200" i="1" dirty="0" err="1">
                <a:solidFill>
                  <a:schemeClr val="tx2"/>
                </a:solidFill>
              </a:rPr>
              <a:t>Research</a:t>
            </a:r>
            <a:r>
              <a:rPr lang="es-CO" sz="1200" i="1" dirty="0">
                <a:solidFill>
                  <a:schemeClr val="tx2"/>
                </a:solidFill>
              </a:rPr>
              <a:t> Letters</a:t>
            </a:r>
            <a:r>
              <a:rPr lang="es-CO" sz="1200" dirty="0">
                <a:solidFill>
                  <a:schemeClr val="tx2"/>
                </a:solidFill>
              </a:rPr>
              <a:t>, </a:t>
            </a:r>
            <a:r>
              <a:rPr lang="es-CO" sz="1200" i="1" dirty="0">
                <a:solidFill>
                  <a:schemeClr val="tx2"/>
                </a:solidFill>
              </a:rPr>
              <a:t>49</a:t>
            </a:r>
            <a:r>
              <a:rPr lang="es-CO" sz="1200" dirty="0">
                <a:solidFill>
                  <a:schemeClr val="tx2"/>
                </a:solidFill>
              </a:rPr>
              <a:t>, e2021GL097002. </a:t>
            </a:r>
            <a:r>
              <a:rPr lang="es-CO" sz="1200" dirty="0">
                <a:solidFill>
                  <a:schemeClr val="tx2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https://doi.org/10.1029/2021GL097002</a:t>
            </a:r>
            <a:endParaRPr lang="es-CO" sz="12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s-CO" sz="1200" u="sng" dirty="0">
              <a:solidFill>
                <a:schemeClr val="tx2"/>
              </a:solidFill>
            </a:endParaRPr>
          </a:p>
          <a:p>
            <a:pPr marL="0" indent="0">
              <a:buClr>
                <a:srgbClr val="9F00C4"/>
              </a:buClr>
              <a:buNone/>
            </a:pPr>
            <a:endParaRPr lang="es-ES_tradnl" sz="1200" b="1" dirty="0">
              <a:solidFill>
                <a:schemeClr val="tx2"/>
              </a:solidFill>
              <a:latin typeface="Ancizar Sans" panose="020B0602040300000003"/>
              <a:cs typeface="+mn-cs"/>
            </a:endParaRP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5F06A3A1-EAF7-4847-E0E4-8B49DD8E6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C2BA4-81C0-F544-BD72-C8CB9DA7C802}" type="slidenum">
              <a:rPr kumimoji="0" lang="es-ES" sz="900" b="0" i="0" u="none" strike="noStrike" kern="1200" cap="none" spc="0" normalizeH="0" baseline="0" noProof="0" smtClean="0">
                <a:ln>
                  <a:noFill/>
                </a:ln>
                <a:solidFill>
                  <a:srgbClr val="29272D"/>
                </a:solidFill>
                <a:effectLst/>
                <a:uLnTx/>
                <a:uFillTx/>
                <a:latin typeface="Ancizar Sans Light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" sz="900" b="0" i="0" u="none" strike="noStrike" kern="1200" cap="none" spc="0" normalizeH="0" baseline="0" noProof="0">
              <a:ln>
                <a:noFill/>
              </a:ln>
              <a:solidFill>
                <a:srgbClr val="29272D"/>
              </a:solidFill>
              <a:effectLst/>
              <a:uLnTx/>
              <a:uFillTx/>
              <a:latin typeface="Ancizar Sans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521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2800000" y="1950000"/>
            <a:ext cx="3544000" cy="496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o-RO" sz="3200" i="1" dirty="0" err="1">
                <a:solidFill>
                  <a:schemeClr val="bg2"/>
                </a:solidFill>
                <a:latin typeface="Ancizar Serif"/>
                <a:cs typeface="Ancizar Serif"/>
              </a:rPr>
              <a:t>Gracias</a:t>
            </a:r>
            <a:endParaRPr lang="ro-RO" sz="3200" i="1" dirty="0">
              <a:solidFill>
                <a:schemeClr val="bg2"/>
              </a:solidFill>
              <a:latin typeface="Ancizar Serif"/>
              <a:cs typeface="Ancizar Serif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246A0C8-F2FD-4F7E-1C1F-1636098F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190908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-presentacion">
  <a:themeElements>
    <a:clrScheme name="UNAL 2024">
      <a:dk1>
        <a:srgbClr val="29272D"/>
      </a:dk1>
      <a:lt1>
        <a:srgbClr val="F7F5F2"/>
      </a:lt1>
      <a:dk2>
        <a:srgbClr val="481F63"/>
      </a:dk2>
      <a:lt2>
        <a:srgbClr val="F8ECCD"/>
      </a:lt2>
      <a:accent1>
        <a:srgbClr val="620C78"/>
      </a:accent1>
      <a:accent2>
        <a:srgbClr val="FFB93E"/>
      </a:accent2>
      <a:accent3>
        <a:srgbClr val="06784F"/>
      </a:accent3>
      <a:accent4>
        <a:srgbClr val="14C486"/>
      </a:accent4>
      <a:accent5>
        <a:srgbClr val="9F00C4"/>
      </a:accent5>
      <a:accent6>
        <a:srgbClr val="F79646"/>
      </a:accent6>
      <a:hlink>
        <a:srgbClr val="14C486"/>
      </a:hlink>
      <a:folHlink>
        <a:srgbClr val="9F00C4"/>
      </a:folHlink>
    </a:clrScheme>
    <a:fontScheme name="OCE">
      <a:majorFont>
        <a:latin typeface="Ancizar Serif Extrabold"/>
        <a:ea typeface=""/>
        <a:cs typeface=""/>
      </a:majorFont>
      <a:minorFont>
        <a:latin typeface="Ancizar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2451</TotalTime>
  <Words>961</Words>
  <Application>Microsoft Macintosh PowerPoint</Application>
  <PresentationFormat>Presentación en pantalla (16:9)</PresentationFormat>
  <Paragraphs>114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Ancizar Sans</vt:lpstr>
      <vt:lpstr>Ancizar Sans Light</vt:lpstr>
      <vt:lpstr>Ancizar Serif</vt:lpstr>
      <vt:lpstr>Ancizar Serif Extrabold</vt:lpstr>
      <vt:lpstr>Aptos</vt:lpstr>
      <vt:lpstr>Arial</vt:lpstr>
      <vt:lpstr>Plantilla-presentacion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</dc:creator>
  <cp:lastModifiedBy>Cristiam  Portilla Cabrera</cp:lastModifiedBy>
  <cp:revision>38</cp:revision>
  <dcterms:created xsi:type="dcterms:W3CDTF">2024-06-25T17:03:54Z</dcterms:created>
  <dcterms:modified xsi:type="dcterms:W3CDTF">2026-10-09T16:18:19Z</dcterms:modified>
</cp:coreProperties>
</file>